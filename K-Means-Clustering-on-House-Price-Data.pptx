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Playfair Display"/>
      <p:regular r:id="rId14"/>
    </p:embeddedFont>
    <p:embeddedFont>
      <p:font typeface="Playfair Display"/>
      <p:regular r:id="rId15"/>
    </p:embeddedFont>
    <p:embeddedFont>
      <p:font typeface="Playfair Display"/>
      <p:regular r:id="rId16"/>
    </p:embeddedFont>
    <p:embeddedFont>
      <p:font typeface="Playfair Display"/>
      <p:regular r:id="rId17"/>
    </p:embeddedFont>
    <p:embeddedFont>
      <p:font typeface="Open Sans"/>
      <p:regular r:id="rId18"/>
    </p:embeddedFont>
    <p:embeddedFont>
      <p:font typeface="Open Sans"/>
      <p:regular r:id="rId19"/>
    </p:embeddedFont>
    <p:embeddedFont>
      <p:font typeface="Open Sans"/>
      <p:regular r:id="rId20"/>
    </p:embeddedFont>
    <p:embeddedFont>
      <p:font typeface="Open Sans"/>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187065"/>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101014"/>
                </a:solidFill>
                <a:latin typeface="Playfair Display Bold" pitchFamily="34" charset="0"/>
                <a:ea typeface="Playfair Display Bold" pitchFamily="34" charset="-122"/>
                <a:cs typeface="Playfair Display Bold" pitchFamily="34" charset="-120"/>
              </a:rPr>
              <a:t>K-Means Clustering on House Price Data</a:t>
            </a:r>
            <a:endParaRPr lang="en-US" sz="3900" dirty="0"/>
          </a:p>
        </p:txBody>
      </p:sp>
      <p:sp>
        <p:nvSpPr>
          <p:cNvPr id="4" name="Text 1"/>
          <p:cNvSpPr/>
          <p:nvPr/>
        </p:nvSpPr>
        <p:spPr>
          <a:xfrm>
            <a:off x="6280190" y="4724876"/>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39393C"/>
                </a:solidFill>
                <a:latin typeface="Open Sans" pitchFamily="34" charset="0"/>
                <a:ea typeface="Open Sans" pitchFamily="34" charset="-122"/>
                <a:cs typeface="Open Sans" pitchFamily="34" charset="-120"/>
              </a:rPr>
              <a:t>A Machine Learning Mini Project Presentation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33782"/>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101014"/>
                </a:solidFill>
                <a:latin typeface="Playfair Display Bold" pitchFamily="34" charset="0"/>
                <a:ea typeface="Playfair Display Bold" pitchFamily="34" charset="-122"/>
                <a:cs typeface="Playfair Display Bold" pitchFamily="34" charset="-120"/>
              </a:rPr>
              <a:t>Project Overview</a:t>
            </a:r>
            <a:endParaRPr lang="en-US" sz="3900" dirty="0"/>
          </a:p>
        </p:txBody>
      </p:sp>
      <p:sp>
        <p:nvSpPr>
          <p:cNvPr id="3" name="Text 1"/>
          <p:cNvSpPr/>
          <p:nvPr/>
        </p:nvSpPr>
        <p:spPr>
          <a:xfrm>
            <a:off x="793790" y="1849874"/>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101014"/>
                </a:solidFill>
                <a:latin typeface="Playfair Display Bold" pitchFamily="34" charset="0"/>
                <a:ea typeface="Playfair Display Bold" pitchFamily="34" charset="-122"/>
                <a:cs typeface="Playfair Display Bold" pitchFamily="34" charset="-120"/>
              </a:rPr>
              <a:t>Objective</a:t>
            </a:r>
            <a:endParaRPr lang="en-US" sz="2300" dirty="0"/>
          </a:p>
        </p:txBody>
      </p:sp>
      <p:sp>
        <p:nvSpPr>
          <p:cNvPr id="4" name="Text 2"/>
          <p:cNvSpPr/>
          <p:nvPr/>
        </p:nvSpPr>
        <p:spPr>
          <a:xfrm>
            <a:off x="793790" y="2420303"/>
            <a:ext cx="4926568" cy="2222778"/>
          </a:xfrm>
          <a:prstGeom prst="rect">
            <a:avLst/>
          </a:prstGeom>
          <a:noFill/>
          <a:ln/>
        </p:spPr>
        <p:txBody>
          <a:bodyPr wrap="square" lIns="0" tIns="0" rIns="0" bIns="0" rtlCol="0" anchor="t"/>
          <a:lstStyle/>
          <a:p>
            <a:pPr algn="l" indent="0" marL="0">
              <a:lnSpc>
                <a:spcPts val="2500"/>
              </a:lnSpc>
              <a:buNone/>
            </a:pPr>
            <a:r>
              <a:rPr lang="en-US" sz="1550" dirty="0">
                <a:solidFill>
                  <a:srgbClr val="39393C"/>
                </a:solidFill>
                <a:latin typeface="Open Sans" pitchFamily="34" charset="0"/>
                <a:ea typeface="Open Sans" pitchFamily="34" charset="-122"/>
                <a:cs typeface="Open Sans" pitchFamily="34" charset="-120"/>
              </a:rPr>
              <a:t>This project explores unsupervised machine learning through the application of K-Means clustering to housing market data. Our primary goal is to discover natural groupings within the housing dataset based on pricing patterns and related property characteristics, enabling data-driven insights into market segmentation.</a:t>
            </a:r>
            <a:endParaRPr lang="en-US" sz="1550" dirty="0"/>
          </a:p>
        </p:txBody>
      </p:sp>
      <p:sp>
        <p:nvSpPr>
          <p:cNvPr id="5" name="Text 3"/>
          <p:cNvSpPr/>
          <p:nvPr/>
        </p:nvSpPr>
        <p:spPr>
          <a:xfrm>
            <a:off x="793790" y="4841438"/>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101014"/>
                </a:solidFill>
                <a:latin typeface="Playfair Display Bold" pitchFamily="34" charset="0"/>
                <a:ea typeface="Playfair Display Bold" pitchFamily="34" charset="-122"/>
                <a:cs typeface="Playfair Display Bold" pitchFamily="34" charset="-120"/>
              </a:rPr>
              <a:t>Approach</a:t>
            </a:r>
            <a:endParaRPr lang="en-US" sz="2300" dirty="0"/>
          </a:p>
        </p:txBody>
      </p:sp>
      <p:sp>
        <p:nvSpPr>
          <p:cNvPr id="6" name="Text 4"/>
          <p:cNvSpPr/>
          <p:nvPr/>
        </p:nvSpPr>
        <p:spPr>
          <a:xfrm>
            <a:off x="793790" y="5411867"/>
            <a:ext cx="4926568" cy="1905238"/>
          </a:xfrm>
          <a:prstGeom prst="rect">
            <a:avLst/>
          </a:prstGeom>
          <a:noFill/>
          <a:ln/>
        </p:spPr>
        <p:txBody>
          <a:bodyPr wrap="square" lIns="0" tIns="0" rIns="0" bIns="0" rtlCol="0" anchor="t"/>
          <a:lstStyle/>
          <a:p>
            <a:pPr algn="l" indent="0" marL="0">
              <a:lnSpc>
                <a:spcPts val="2500"/>
              </a:lnSpc>
              <a:buNone/>
            </a:pPr>
            <a:r>
              <a:rPr lang="en-US" sz="1550" dirty="0">
                <a:solidFill>
                  <a:srgbClr val="39393C"/>
                </a:solidFill>
                <a:latin typeface="Open Sans" pitchFamily="34" charset="0"/>
                <a:ea typeface="Open Sans" pitchFamily="34" charset="-122"/>
                <a:cs typeface="Open Sans" pitchFamily="34" charset="-120"/>
              </a:rPr>
              <a:t>We leverage the K-Means clustering algorithm, a powerful unsupervised learning technique that partitions data into distinct groups based on feature similarity. This method allows us to identify patterns without pre-labeled categories, making it ideal for exploratory data analysis in real estate markets.</a:t>
            </a:r>
            <a:endParaRPr lang="en-US" sz="1550" dirty="0"/>
          </a:p>
        </p:txBody>
      </p:sp>
      <p:sp>
        <p:nvSpPr>
          <p:cNvPr id="7" name="Text 5"/>
          <p:cNvSpPr/>
          <p:nvPr/>
        </p:nvSpPr>
        <p:spPr>
          <a:xfrm>
            <a:off x="6212086" y="1849874"/>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101014"/>
                </a:solidFill>
                <a:latin typeface="Playfair Display Bold" pitchFamily="34" charset="0"/>
                <a:ea typeface="Playfair Display Bold" pitchFamily="34" charset="-122"/>
                <a:cs typeface="Playfair Display Bold" pitchFamily="34" charset="-120"/>
              </a:rPr>
              <a:t>Data Source</a:t>
            </a:r>
            <a:endParaRPr lang="en-US" sz="2300" dirty="0"/>
          </a:p>
        </p:txBody>
      </p:sp>
      <p:sp>
        <p:nvSpPr>
          <p:cNvPr id="8" name="Text 6"/>
          <p:cNvSpPr/>
          <p:nvPr/>
        </p:nvSpPr>
        <p:spPr>
          <a:xfrm>
            <a:off x="6212086" y="2420303"/>
            <a:ext cx="7632025" cy="1587698"/>
          </a:xfrm>
          <a:prstGeom prst="rect">
            <a:avLst/>
          </a:prstGeom>
          <a:noFill/>
          <a:ln/>
        </p:spPr>
        <p:txBody>
          <a:bodyPr wrap="square" lIns="0" tIns="0" rIns="0" bIns="0" rtlCol="0" anchor="t"/>
          <a:lstStyle/>
          <a:p>
            <a:pPr algn="l" indent="0" marL="0">
              <a:lnSpc>
                <a:spcPts val="2500"/>
              </a:lnSpc>
              <a:buNone/>
            </a:pPr>
            <a:r>
              <a:rPr lang="en-US" sz="1550" dirty="0">
                <a:solidFill>
                  <a:srgbClr val="39393C"/>
                </a:solidFill>
                <a:latin typeface="Open Sans" pitchFamily="34" charset="0"/>
                <a:ea typeface="Open Sans" pitchFamily="34" charset="-122"/>
                <a:cs typeface="Open Sans" pitchFamily="34" charset="-120"/>
              </a:rPr>
              <a:t>Our analysis utilizes the comprehensive train.csv dataset from Kaggle's renowned House Prices competition. This rich dataset contains detailed information about residential properties, including structural features, location attributes, and final sale prices. The dataset provides an excellent foundation for understanding the complex relationships between housing characteristics and market value.</a:t>
            </a:r>
            <a:endParaRPr lang="en-US" sz="1550" dirty="0"/>
          </a:p>
        </p:txBody>
      </p:sp>
      <p:sp>
        <p:nvSpPr>
          <p:cNvPr id="9" name="Text 7"/>
          <p:cNvSpPr/>
          <p:nvPr/>
        </p:nvSpPr>
        <p:spPr>
          <a:xfrm>
            <a:off x="6212086" y="4206359"/>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101014"/>
                </a:solidFill>
                <a:latin typeface="Playfair Display Bold" pitchFamily="34" charset="0"/>
                <a:ea typeface="Playfair Display Bold" pitchFamily="34" charset="-122"/>
                <a:cs typeface="Playfair Display Bold" pitchFamily="34" charset="-120"/>
              </a:rPr>
              <a:t>Expected Outcomes</a:t>
            </a:r>
            <a:endParaRPr lang="en-US" sz="2300" dirty="0"/>
          </a:p>
        </p:txBody>
      </p:sp>
      <p:sp>
        <p:nvSpPr>
          <p:cNvPr id="10" name="Text 8"/>
          <p:cNvSpPr/>
          <p:nvPr/>
        </p:nvSpPr>
        <p:spPr>
          <a:xfrm>
            <a:off x="6212086" y="4776788"/>
            <a:ext cx="7632025" cy="1270159"/>
          </a:xfrm>
          <a:prstGeom prst="rect">
            <a:avLst/>
          </a:prstGeom>
          <a:noFill/>
          <a:ln/>
        </p:spPr>
        <p:txBody>
          <a:bodyPr wrap="square" lIns="0" tIns="0" rIns="0" bIns="0" rtlCol="0" anchor="t"/>
          <a:lstStyle/>
          <a:p>
            <a:pPr algn="l" indent="0" marL="0">
              <a:lnSpc>
                <a:spcPts val="2500"/>
              </a:lnSpc>
              <a:buNone/>
            </a:pPr>
            <a:r>
              <a:rPr lang="en-US" sz="1550" dirty="0">
                <a:solidFill>
                  <a:srgbClr val="39393C"/>
                </a:solidFill>
                <a:latin typeface="Open Sans" pitchFamily="34" charset="0"/>
                <a:ea typeface="Open Sans" pitchFamily="34" charset="-122"/>
                <a:cs typeface="Open Sans" pitchFamily="34" charset="-120"/>
              </a:rPr>
              <a:t>Through this clustering analysis, we aim to uncover meaningful segments within the housing market that can inform pricing strategies, market positioning, and investment decisions. The resulting clusters should reveal distinct property categories based on their feature profiles.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83920"/>
            <a:ext cx="3969425" cy="496133"/>
          </a:xfrm>
          <a:prstGeom prst="rect">
            <a:avLst/>
          </a:prstGeom>
          <a:noFill/>
          <a:ln/>
        </p:spPr>
        <p:txBody>
          <a:bodyPr wrap="none" lIns="0" tIns="0" rIns="0" bIns="0" rtlCol="0" anchor="t"/>
          <a:lstStyle/>
          <a:p>
            <a:pPr algn="l" indent="0" marL="0">
              <a:lnSpc>
                <a:spcPts val="3900"/>
              </a:lnSpc>
              <a:buNone/>
            </a:pPr>
            <a:r>
              <a:rPr lang="en-US" sz="3100" b="1" dirty="0">
                <a:solidFill>
                  <a:srgbClr val="101014"/>
                </a:solidFill>
                <a:latin typeface="Playfair Display Bold" pitchFamily="34" charset="0"/>
                <a:ea typeface="Playfair Display Bold" pitchFamily="34" charset="-122"/>
                <a:cs typeface="Playfair Display Bold" pitchFamily="34" charset="-120"/>
              </a:rPr>
              <a:t>Dataset Overview</a:t>
            </a:r>
            <a:endParaRPr lang="en-US" sz="3100" dirty="0"/>
          </a:p>
        </p:txBody>
      </p:sp>
      <p:sp>
        <p:nvSpPr>
          <p:cNvPr id="3" name="Shape 1"/>
          <p:cNvSpPr/>
          <p:nvPr/>
        </p:nvSpPr>
        <p:spPr>
          <a:xfrm>
            <a:off x="793790" y="1697593"/>
            <a:ext cx="6441996" cy="2057876"/>
          </a:xfrm>
          <a:prstGeom prst="roundRect">
            <a:avLst>
              <a:gd name="adj" fmla="val 1157"/>
            </a:avLst>
          </a:prstGeom>
          <a:solidFill>
            <a:srgbClr val="E0E0EC"/>
          </a:solidFill>
          <a:ln/>
        </p:spPr>
      </p:sp>
      <p:sp>
        <p:nvSpPr>
          <p:cNvPr id="4" name="Shape 2"/>
          <p:cNvSpPr/>
          <p:nvPr/>
        </p:nvSpPr>
        <p:spPr>
          <a:xfrm>
            <a:off x="952500" y="1856303"/>
            <a:ext cx="476250" cy="476250"/>
          </a:xfrm>
          <a:prstGeom prst="roundRect">
            <a:avLst>
              <a:gd name="adj" fmla="val 19198080"/>
            </a:avLst>
          </a:prstGeom>
          <a:solidFill>
            <a:srgbClr val="10101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469" y="1987272"/>
            <a:ext cx="214313" cy="214312"/>
          </a:xfrm>
          <a:prstGeom prst="rect">
            <a:avLst/>
          </a:prstGeom>
        </p:spPr>
      </p:pic>
      <p:sp>
        <p:nvSpPr>
          <p:cNvPr id="6" name="Text 3"/>
          <p:cNvSpPr/>
          <p:nvPr/>
        </p:nvSpPr>
        <p:spPr>
          <a:xfrm>
            <a:off x="952500" y="2491264"/>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LotArea</a:t>
            </a:r>
            <a:endParaRPr lang="en-US" sz="1550" dirty="0"/>
          </a:p>
        </p:txBody>
      </p:sp>
      <p:sp>
        <p:nvSpPr>
          <p:cNvPr id="7" name="Text 4"/>
          <p:cNvSpPr/>
          <p:nvPr/>
        </p:nvSpPr>
        <p:spPr>
          <a:xfrm>
            <a:off x="952500" y="2834521"/>
            <a:ext cx="6124575" cy="762238"/>
          </a:xfrm>
          <a:prstGeom prst="rect">
            <a:avLst/>
          </a:prstGeom>
          <a:noFill/>
          <a:ln/>
        </p:spPr>
        <p:txBody>
          <a:bodyPr wrap="square" lIns="0" tIns="0" rIns="0" bIns="0" rtlCol="0" anchor="t"/>
          <a:lstStyle/>
          <a:p>
            <a:pPr algn="l" indent="0" marL="0">
              <a:lnSpc>
                <a:spcPts val="2000"/>
              </a:lnSpc>
              <a:buNone/>
            </a:pPr>
            <a:r>
              <a:rPr lang="en-US" sz="1250" dirty="0">
                <a:solidFill>
                  <a:srgbClr val="39393C"/>
                </a:solidFill>
                <a:latin typeface="Open Sans" pitchFamily="34" charset="0"/>
                <a:ea typeface="Open Sans" pitchFamily="34" charset="-122"/>
                <a:cs typeface="Open Sans" pitchFamily="34" charset="-120"/>
              </a:rPr>
              <a:t>Lot size measured in square feet, representing the total land area of each property. This metric provides crucial context about property size and potential value.</a:t>
            </a:r>
            <a:endParaRPr lang="en-US" sz="1250" dirty="0"/>
          </a:p>
        </p:txBody>
      </p:sp>
      <p:sp>
        <p:nvSpPr>
          <p:cNvPr id="8" name="Shape 5"/>
          <p:cNvSpPr/>
          <p:nvPr/>
        </p:nvSpPr>
        <p:spPr>
          <a:xfrm>
            <a:off x="7394496" y="1697593"/>
            <a:ext cx="6442115" cy="2057876"/>
          </a:xfrm>
          <a:prstGeom prst="roundRect">
            <a:avLst>
              <a:gd name="adj" fmla="val 1157"/>
            </a:avLst>
          </a:prstGeom>
          <a:solidFill>
            <a:srgbClr val="E0E0EC"/>
          </a:solidFill>
          <a:ln/>
        </p:spPr>
      </p:sp>
      <p:sp>
        <p:nvSpPr>
          <p:cNvPr id="9" name="Shape 6"/>
          <p:cNvSpPr/>
          <p:nvPr/>
        </p:nvSpPr>
        <p:spPr>
          <a:xfrm>
            <a:off x="7553206" y="1856303"/>
            <a:ext cx="476250" cy="476250"/>
          </a:xfrm>
          <a:prstGeom prst="roundRect">
            <a:avLst>
              <a:gd name="adj" fmla="val 19198080"/>
            </a:avLst>
          </a:prstGeom>
          <a:solidFill>
            <a:srgbClr val="10101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4175" y="1987272"/>
            <a:ext cx="214313" cy="214312"/>
          </a:xfrm>
          <a:prstGeom prst="rect">
            <a:avLst/>
          </a:prstGeom>
        </p:spPr>
      </p:pic>
      <p:sp>
        <p:nvSpPr>
          <p:cNvPr id="11" name="Text 7"/>
          <p:cNvSpPr/>
          <p:nvPr/>
        </p:nvSpPr>
        <p:spPr>
          <a:xfrm>
            <a:off x="7553206" y="2491264"/>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OverallQual</a:t>
            </a:r>
            <a:endParaRPr lang="en-US" sz="1550" dirty="0"/>
          </a:p>
        </p:txBody>
      </p:sp>
      <p:sp>
        <p:nvSpPr>
          <p:cNvPr id="12" name="Text 8"/>
          <p:cNvSpPr/>
          <p:nvPr/>
        </p:nvSpPr>
        <p:spPr>
          <a:xfrm>
            <a:off x="7553206" y="2834521"/>
            <a:ext cx="6124694" cy="508159"/>
          </a:xfrm>
          <a:prstGeom prst="rect">
            <a:avLst/>
          </a:prstGeom>
          <a:noFill/>
          <a:ln/>
        </p:spPr>
        <p:txBody>
          <a:bodyPr wrap="square" lIns="0" tIns="0" rIns="0" bIns="0" rtlCol="0" anchor="t"/>
          <a:lstStyle/>
          <a:p>
            <a:pPr algn="l" indent="0" marL="0">
              <a:lnSpc>
                <a:spcPts val="2000"/>
              </a:lnSpc>
              <a:buNone/>
            </a:pPr>
            <a:r>
              <a:rPr lang="en-US" sz="1250" dirty="0">
                <a:solidFill>
                  <a:srgbClr val="39393C"/>
                </a:solidFill>
                <a:latin typeface="Open Sans" pitchFamily="34" charset="0"/>
                <a:ea typeface="Open Sans" pitchFamily="34" charset="-122"/>
                <a:cs typeface="Open Sans" pitchFamily="34" charset="-120"/>
              </a:rPr>
              <a:t>Overall material and finish quality rating on a scale from 1-10. This subjective measure captures the craftsmanship and premium features of each home.</a:t>
            </a:r>
            <a:endParaRPr lang="en-US" sz="1250" dirty="0"/>
          </a:p>
        </p:txBody>
      </p:sp>
      <p:sp>
        <p:nvSpPr>
          <p:cNvPr id="13" name="Shape 9"/>
          <p:cNvSpPr/>
          <p:nvPr/>
        </p:nvSpPr>
        <p:spPr>
          <a:xfrm>
            <a:off x="793790" y="3914180"/>
            <a:ext cx="6441996" cy="1803797"/>
          </a:xfrm>
          <a:prstGeom prst="roundRect">
            <a:avLst>
              <a:gd name="adj" fmla="val 1320"/>
            </a:avLst>
          </a:prstGeom>
          <a:solidFill>
            <a:srgbClr val="E0E0EC"/>
          </a:solidFill>
          <a:ln/>
        </p:spPr>
      </p:sp>
      <p:sp>
        <p:nvSpPr>
          <p:cNvPr id="14" name="Shape 10"/>
          <p:cNvSpPr/>
          <p:nvPr/>
        </p:nvSpPr>
        <p:spPr>
          <a:xfrm>
            <a:off x="952500" y="4072890"/>
            <a:ext cx="476250" cy="476250"/>
          </a:xfrm>
          <a:prstGeom prst="roundRect">
            <a:avLst>
              <a:gd name="adj" fmla="val 19198080"/>
            </a:avLst>
          </a:prstGeom>
          <a:solidFill>
            <a:srgbClr val="101014"/>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3469" y="4203859"/>
            <a:ext cx="214313" cy="214312"/>
          </a:xfrm>
          <a:prstGeom prst="rect">
            <a:avLst/>
          </a:prstGeom>
        </p:spPr>
      </p:pic>
      <p:sp>
        <p:nvSpPr>
          <p:cNvPr id="16" name="Text 11"/>
          <p:cNvSpPr/>
          <p:nvPr/>
        </p:nvSpPr>
        <p:spPr>
          <a:xfrm>
            <a:off x="952500" y="4707850"/>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GrLivArea</a:t>
            </a:r>
            <a:endParaRPr lang="en-US" sz="1550" dirty="0"/>
          </a:p>
        </p:txBody>
      </p:sp>
      <p:sp>
        <p:nvSpPr>
          <p:cNvPr id="17" name="Text 12"/>
          <p:cNvSpPr/>
          <p:nvPr/>
        </p:nvSpPr>
        <p:spPr>
          <a:xfrm>
            <a:off x="952500" y="5051108"/>
            <a:ext cx="6124575" cy="508159"/>
          </a:xfrm>
          <a:prstGeom prst="rect">
            <a:avLst/>
          </a:prstGeom>
          <a:noFill/>
          <a:ln/>
        </p:spPr>
        <p:txBody>
          <a:bodyPr wrap="square" lIns="0" tIns="0" rIns="0" bIns="0" rtlCol="0" anchor="t"/>
          <a:lstStyle/>
          <a:p>
            <a:pPr algn="l" indent="0" marL="0">
              <a:lnSpc>
                <a:spcPts val="2000"/>
              </a:lnSpc>
              <a:buNone/>
            </a:pPr>
            <a:r>
              <a:rPr lang="en-US" sz="1250" dirty="0">
                <a:solidFill>
                  <a:srgbClr val="39393C"/>
                </a:solidFill>
                <a:latin typeface="Open Sans" pitchFamily="34" charset="0"/>
                <a:ea typeface="Open Sans" pitchFamily="34" charset="-122"/>
                <a:cs typeface="Open Sans" pitchFamily="34" charset="-120"/>
              </a:rPr>
              <a:t>Above-ground living area in square feet, excluding basements. This represents the primary living space and is strongly correlated with property value.</a:t>
            </a:r>
            <a:endParaRPr lang="en-US" sz="1250" dirty="0"/>
          </a:p>
        </p:txBody>
      </p:sp>
      <p:sp>
        <p:nvSpPr>
          <p:cNvPr id="18" name="Shape 13"/>
          <p:cNvSpPr/>
          <p:nvPr/>
        </p:nvSpPr>
        <p:spPr>
          <a:xfrm>
            <a:off x="7394496" y="3914180"/>
            <a:ext cx="6442115" cy="1803797"/>
          </a:xfrm>
          <a:prstGeom prst="roundRect">
            <a:avLst>
              <a:gd name="adj" fmla="val 1320"/>
            </a:avLst>
          </a:prstGeom>
          <a:solidFill>
            <a:srgbClr val="E0E0EC"/>
          </a:solidFill>
          <a:ln/>
        </p:spPr>
      </p:sp>
      <p:sp>
        <p:nvSpPr>
          <p:cNvPr id="19" name="Shape 14"/>
          <p:cNvSpPr/>
          <p:nvPr/>
        </p:nvSpPr>
        <p:spPr>
          <a:xfrm>
            <a:off x="7553206" y="4072890"/>
            <a:ext cx="476250" cy="476250"/>
          </a:xfrm>
          <a:prstGeom prst="roundRect">
            <a:avLst>
              <a:gd name="adj" fmla="val 19198080"/>
            </a:avLst>
          </a:prstGeom>
          <a:solidFill>
            <a:srgbClr val="1010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4175" y="4203859"/>
            <a:ext cx="214313" cy="214312"/>
          </a:xfrm>
          <a:prstGeom prst="rect">
            <a:avLst/>
          </a:prstGeom>
        </p:spPr>
      </p:pic>
      <p:sp>
        <p:nvSpPr>
          <p:cNvPr id="21" name="Text 15"/>
          <p:cNvSpPr/>
          <p:nvPr/>
        </p:nvSpPr>
        <p:spPr>
          <a:xfrm>
            <a:off x="7553206" y="4707850"/>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39393C"/>
                </a:solidFill>
                <a:latin typeface="Playfair Display Bold" pitchFamily="34" charset="0"/>
                <a:ea typeface="Playfair Display Bold" pitchFamily="34" charset="-122"/>
                <a:cs typeface="Playfair Display Bold" pitchFamily="34" charset="-120"/>
              </a:rPr>
              <a:t>SalePrice</a:t>
            </a:r>
            <a:endParaRPr lang="en-US" sz="1550" dirty="0"/>
          </a:p>
        </p:txBody>
      </p:sp>
      <p:sp>
        <p:nvSpPr>
          <p:cNvPr id="22" name="Text 16"/>
          <p:cNvSpPr/>
          <p:nvPr/>
        </p:nvSpPr>
        <p:spPr>
          <a:xfrm>
            <a:off x="7553206" y="5051108"/>
            <a:ext cx="6124694" cy="508159"/>
          </a:xfrm>
          <a:prstGeom prst="rect">
            <a:avLst/>
          </a:prstGeom>
          <a:noFill/>
          <a:ln/>
        </p:spPr>
        <p:txBody>
          <a:bodyPr wrap="square" lIns="0" tIns="0" rIns="0" bIns="0" rtlCol="0" anchor="t"/>
          <a:lstStyle/>
          <a:p>
            <a:pPr algn="l" indent="0" marL="0">
              <a:lnSpc>
                <a:spcPts val="2000"/>
              </a:lnSpc>
              <a:buNone/>
            </a:pPr>
            <a:r>
              <a:rPr lang="en-US" sz="1250" dirty="0">
                <a:solidFill>
                  <a:srgbClr val="39393C"/>
                </a:solidFill>
                <a:latin typeface="Open Sans" pitchFamily="34" charset="0"/>
                <a:ea typeface="Open Sans" pitchFamily="34" charset="-122"/>
                <a:cs typeface="Open Sans" pitchFamily="34" charset="-120"/>
              </a:rPr>
              <a:t>The target variable representing the final sale price of each property. This serves as our key metric for understanding market value and cluster differentiation.</a:t>
            </a:r>
            <a:endParaRPr lang="en-US" sz="1250" dirty="0"/>
          </a:p>
        </p:txBody>
      </p:sp>
      <p:sp>
        <p:nvSpPr>
          <p:cNvPr id="23" name="Text 17"/>
          <p:cNvSpPr/>
          <p:nvPr/>
        </p:nvSpPr>
        <p:spPr>
          <a:xfrm>
            <a:off x="793790" y="5896570"/>
            <a:ext cx="13042821" cy="762238"/>
          </a:xfrm>
          <a:prstGeom prst="rect">
            <a:avLst/>
          </a:prstGeom>
          <a:noFill/>
          <a:ln/>
        </p:spPr>
        <p:txBody>
          <a:bodyPr wrap="square" lIns="0" tIns="0" rIns="0" bIns="0" rtlCol="0" anchor="t"/>
          <a:lstStyle/>
          <a:p>
            <a:pPr algn="l" indent="0" marL="0">
              <a:lnSpc>
                <a:spcPts val="2000"/>
              </a:lnSpc>
              <a:buNone/>
            </a:pPr>
            <a:r>
              <a:rPr lang="en-US" sz="1250" dirty="0">
                <a:solidFill>
                  <a:srgbClr val="39393C"/>
                </a:solidFill>
                <a:latin typeface="Open Sans" pitchFamily="34" charset="0"/>
                <a:ea typeface="Open Sans" pitchFamily="34" charset="-122"/>
                <a:cs typeface="Open Sans" pitchFamily="34" charset="-120"/>
              </a:rPr>
              <a:t>The dataset encompasses a comprehensive collection of housing attributes that capture both quantitative measurements and qualitative assessments. For our clustering analysis, we strategically selected numerical features that demonstrate strong correlations with property value and provide meaningful differentiation between housing categories. Each feature was carefully evaluated for its contribution to the overall clustering model.</a:t>
            </a:r>
            <a:endParaRPr lang="en-US" sz="1250" dirty="0"/>
          </a:p>
        </p:txBody>
      </p:sp>
      <p:sp>
        <p:nvSpPr>
          <p:cNvPr id="24" name="Text 18"/>
          <p:cNvSpPr/>
          <p:nvPr/>
        </p:nvSpPr>
        <p:spPr>
          <a:xfrm>
            <a:off x="793790" y="6837402"/>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39393C"/>
                </a:solidFill>
                <a:latin typeface="Open Sans" pitchFamily="34" charset="0"/>
                <a:ea typeface="Open Sans" pitchFamily="34" charset="-122"/>
                <a:cs typeface="Open Sans" pitchFamily="34" charset="-120"/>
              </a:rPr>
              <a:t>Prior to modeling, we implemented rigorous data cleaning procedures to ensure data quality and consistency. This included identifying and addressing outliers, validating data types, and confirming logical relationships between related features. The preprocessing phase was critical to establishing a reliable foundation for our clustering analysis.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8670" y="542211"/>
            <a:ext cx="4436864" cy="554593"/>
          </a:xfrm>
          <a:prstGeom prst="rect">
            <a:avLst/>
          </a:prstGeom>
          <a:noFill/>
          <a:ln/>
        </p:spPr>
        <p:txBody>
          <a:bodyPr wrap="none" lIns="0" tIns="0" rIns="0" bIns="0" rtlCol="0" anchor="t"/>
          <a:lstStyle/>
          <a:p>
            <a:pPr algn="l" indent="0" marL="0">
              <a:lnSpc>
                <a:spcPts val="4350"/>
              </a:lnSpc>
              <a:buNone/>
            </a:pPr>
            <a:r>
              <a:rPr lang="en-US" sz="3450" b="1" dirty="0">
                <a:solidFill>
                  <a:srgbClr val="101014"/>
                </a:solidFill>
                <a:latin typeface="Playfair Display Bold" pitchFamily="34" charset="0"/>
                <a:ea typeface="Playfair Display Bold" pitchFamily="34" charset="-122"/>
                <a:cs typeface="Playfair Display Bold" pitchFamily="34" charset="-120"/>
              </a:rPr>
              <a:t>Data Preprocessing</a:t>
            </a:r>
            <a:endParaRPr lang="en-US" sz="3450" dirty="0"/>
          </a:p>
        </p:txBody>
      </p:sp>
      <p:sp>
        <p:nvSpPr>
          <p:cNvPr id="3" name="Text 1"/>
          <p:cNvSpPr/>
          <p:nvPr/>
        </p:nvSpPr>
        <p:spPr>
          <a:xfrm>
            <a:off x="788670" y="1451729"/>
            <a:ext cx="177403" cy="221813"/>
          </a:xfrm>
          <a:prstGeom prst="rect">
            <a:avLst/>
          </a:prstGeom>
          <a:noFill/>
          <a:ln/>
        </p:spPr>
        <p:txBody>
          <a:bodyPr wrap="none" lIns="0" tIns="0" rIns="0" bIns="0" rtlCol="0" anchor="t"/>
          <a:lstStyle/>
          <a:p>
            <a:pPr algn="l" indent="0" marL="0">
              <a:lnSpc>
                <a:spcPts val="2200"/>
              </a:lnSpc>
              <a:buNone/>
            </a:pPr>
            <a:r>
              <a:rPr lang="en-US" sz="1350" dirty="0">
                <a:solidFill>
                  <a:srgbClr val="39393C"/>
                </a:solidFill>
                <a:latin typeface="Playfair Display Light" pitchFamily="34" charset="0"/>
                <a:ea typeface="Playfair Display Light" pitchFamily="34" charset="-122"/>
                <a:cs typeface="Playfair Display Light" pitchFamily="34" charset="-120"/>
              </a:rPr>
              <a:t>01</a:t>
            </a:r>
            <a:endParaRPr lang="en-US" sz="1350" dirty="0"/>
          </a:p>
        </p:txBody>
      </p:sp>
      <p:sp>
        <p:nvSpPr>
          <p:cNvPr id="4" name="Shape 2"/>
          <p:cNvSpPr/>
          <p:nvPr/>
        </p:nvSpPr>
        <p:spPr>
          <a:xfrm>
            <a:off x="788670" y="1730454"/>
            <a:ext cx="4232672" cy="22860"/>
          </a:xfrm>
          <a:prstGeom prst="rect">
            <a:avLst/>
          </a:prstGeom>
          <a:solidFill>
            <a:srgbClr val="101014"/>
          </a:solidFill>
          <a:ln/>
        </p:spPr>
      </p:sp>
      <p:sp>
        <p:nvSpPr>
          <p:cNvPr id="5" name="Text 3"/>
          <p:cNvSpPr/>
          <p:nvPr/>
        </p:nvSpPr>
        <p:spPr>
          <a:xfrm>
            <a:off x="788670" y="1864876"/>
            <a:ext cx="2538770" cy="277178"/>
          </a:xfrm>
          <a:prstGeom prst="rect">
            <a:avLst/>
          </a:prstGeom>
          <a:noFill/>
          <a:ln/>
        </p:spPr>
        <p:txBody>
          <a:bodyPr wrap="none" lIns="0" tIns="0" rIns="0" bIns="0" rtlCol="0" anchor="t"/>
          <a:lstStyle/>
          <a:p>
            <a:pPr algn="l" indent="0" marL="0">
              <a:lnSpc>
                <a:spcPts val="215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Missing Value Treatment</a:t>
            </a:r>
            <a:endParaRPr lang="en-US" sz="1700" dirty="0"/>
          </a:p>
        </p:txBody>
      </p:sp>
      <p:sp>
        <p:nvSpPr>
          <p:cNvPr id="6" name="Text 4"/>
          <p:cNvSpPr/>
          <p:nvPr/>
        </p:nvSpPr>
        <p:spPr>
          <a:xfrm>
            <a:off x="788670" y="2248495"/>
            <a:ext cx="4232672" cy="2555677"/>
          </a:xfrm>
          <a:prstGeom prst="rect">
            <a:avLst/>
          </a:prstGeom>
          <a:noFill/>
          <a:ln/>
        </p:spPr>
        <p:txBody>
          <a:bodyPr wrap="square" lIns="0" tIns="0" rIns="0" bIns="0" rtlCol="0" anchor="t"/>
          <a:lstStyle/>
          <a:p>
            <a:pPr algn="l" indent="0" marL="0">
              <a:lnSpc>
                <a:spcPts val="2200"/>
              </a:lnSpc>
              <a:buNone/>
            </a:pPr>
            <a:r>
              <a:rPr lang="en-US" sz="1350" dirty="0">
                <a:solidFill>
                  <a:srgbClr val="39393C"/>
                </a:solidFill>
                <a:latin typeface="Open Sans" pitchFamily="34" charset="0"/>
                <a:ea typeface="Open Sans" pitchFamily="34" charset="-122"/>
                <a:cs typeface="Open Sans" pitchFamily="34" charset="-120"/>
              </a:rPr>
              <a:t>Conducted comprehensive analysis to identify missing data patterns across all features. Applied appropriate imputation strategies including median substitution for continuous variables and mode imputation for categorical features. For features with excessive missing values (&gt;40%), we evaluated their necessity for the clustering model and removed them if they didn't provide substantial predictive value.</a:t>
            </a:r>
            <a:endParaRPr lang="en-US" sz="1350" dirty="0"/>
          </a:p>
        </p:txBody>
      </p:sp>
      <p:sp>
        <p:nvSpPr>
          <p:cNvPr id="7" name="Text 5"/>
          <p:cNvSpPr/>
          <p:nvPr/>
        </p:nvSpPr>
        <p:spPr>
          <a:xfrm>
            <a:off x="5198745" y="1451729"/>
            <a:ext cx="177403" cy="221813"/>
          </a:xfrm>
          <a:prstGeom prst="rect">
            <a:avLst/>
          </a:prstGeom>
          <a:noFill/>
          <a:ln/>
        </p:spPr>
        <p:txBody>
          <a:bodyPr wrap="none" lIns="0" tIns="0" rIns="0" bIns="0" rtlCol="0" anchor="t"/>
          <a:lstStyle/>
          <a:p>
            <a:pPr algn="l" indent="0" marL="0">
              <a:lnSpc>
                <a:spcPts val="2200"/>
              </a:lnSpc>
              <a:buNone/>
            </a:pPr>
            <a:r>
              <a:rPr lang="en-US" sz="1350" dirty="0">
                <a:solidFill>
                  <a:srgbClr val="39393C"/>
                </a:solidFill>
                <a:latin typeface="Playfair Display Light" pitchFamily="34" charset="0"/>
                <a:ea typeface="Playfair Display Light" pitchFamily="34" charset="-122"/>
                <a:cs typeface="Playfair Display Light" pitchFamily="34" charset="-120"/>
              </a:rPr>
              <a:t>02</a:t>
            </a:r>
            <a:endParaRPr lang="en-US" sz="1350" dirty="0"/>
          </a:p>
        </p:txBody>
      </p:sp>
      <p:sp>
        <p:nvSpPr>
          <p:cNvPr id="8" name="Shape 6"/>
          <p:cNvSpPr/>
          <p:nvPr/>
        </p:nvSpPr>
        <p:spPr>
          <a:xfrm>
            <a:off x="5198745" y="1730454"/>
            <a:ext cx="4232791" cy="22860"/>
          </a:xfrm>
          <a:prstGeom prst="rect">
            <a:avLst/>
          </a:prstGeom>
          <a:solidFill>
            <a:srgbClr val="101014"/>
          </a:solidFill>
          <a:ln/>
        </p:spPr>
      </p:sp>
      <p:sp>
        <p:nvSpPr>
          <p:cNvPr id="9" name="Text 7"/>
          <p:cNvSpPr/>
          <p:nvPr/>
        </p:nvSpPr>
        <p:spPr>
          <a:xfrm>
            <a:off x="5198745" y="1864876"/>
            <a:ext cx="2218373" cy="277178"/>
          </a:xfrm>
          <a:prstGeom prst="rect">
            <a:avLst/>
          </a:prstGeom>
          <a:noFill/>
          <a:ln/>
        </p:spPr>
        <p:txBody>
          <a:bodyPr wrap="none" lIns="0" tIns="0" rIns="0" bIns="0" rtlCol="0" anchor="t"/>
          <a:lstStyle/>
          <a:p>
            <a:pPr algn="l" indent="0" marL="0">
              <a:lnSpc>
                <a:spcPts val="215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Feature Selection</a:t>
            </a:r>
            <a:endParaRPr lang="en-US" sz="1700" dirty="0"/>
          </a:p>
        </p:txBody>
      </p:sp>
      <p:sp>
        <p:nvSpPr>
          <p:cNvPr id="10" name="Text 8"/>
          <p:cNvSpPr/>
          <p:nvPr/>
        </p:nvSpPr>
        <p:spPr>
          <a:xfrm>
            <a:off x="5198745" y="2248495"/>
            <a:ext cx="4232791" cy="2271713"/>
          </a:xfrm>
          <a:prstGeom prst="rect">
            <a:avLst/>
          </a:prstGeom>
          <a:noFill/>
          <a:ln/>
        </p:spPr>
        <p:txBody>
          <a:bodyPr wrap="square" lIns="0" tIns="0" rIns="0" bIns="0" rtlCol="0" anchor="t"/>
          <a:lstStyle/>
          <a:p>
            <a:pPr algn="l" indent="0" marL="0">
              <a:lnSpc>
                <a:spcPts val="2200"/>
              </a:lnSpc>
              <a:buNone/>
            </a:pPr>
            <a:r>
              <a:rPr lang="en-US" sz="1350" dirty="0">
                <a:solidFill>
                  <a:srgbClr val="39393C"/>
                </a:solidFill>
                <a:latin typeface="Open Sans" pitchFamily="34" charset="0"/>
                <a:ea typeface="Open Sans" pitchFamily="34" charset="-122"/>
                <a:cs typeface="Open Sans" pitchFamily="34" charset="-120"/>
              </a:rPr>
              <a:t>Performed correlation analysis to identify the most relevant numerical features for clustering. Focused on features with strong relationships to SalePrice while avoiding multicollinearity issues. Selected features including LotArea, OverallQual, GrLivArea, YearBuilt, and TotalBsmtSF, among others. This curated feature set captures essential property characteristics without introducing redundancy.</a:t>
            </a:r>
            <a:endParaRPr lang="en-US" sz="1350" dirty="0"/>
          </a:p>
        </p:txBody>
      </p:sp>
      <p:sp>
        <p:nvSpPr>
          <p:cNvPr id="11" name="Text 9"/>
          <p:cNvSpPr/>
          <p:nvPr/>
        </p:nvSpPr>
        <p:spPr>
          <a:xfrm>
            <a:off x="9608939" y="1451729"/>
            <a:ext cx="177403" cy="221813"/>
          </a:xfrm>
          <a:prstGeom prst="rect">
            <a:avLst/>
          </a:prstGeom>
          <a:noFill/>
          <a:ln/>
        </p:spPr>
        <p:txBody>
          <a:bodyPr wrap="none" lIns="0" tIns="0" rIns="0" bIns="0" rtlCol="0" anchor="t"/>
          <a:lstStyle/>
          <a:p>
            <a:pPr algn="l" indent="0" marL="0">
              <a:lnSpc>
                <a:spcPts val="2200"/>
              </a:lnSpc>
              <a:buNone/>
            </a:pPr>
            <a:r>
              <a:rPr lang="en-US" sz="1350" dirty="0">
                <a:solidFill>
                  <a:srgbClr val="39393C"/>
                </a:solidFill>
                <a:latin typeface="Playfair Display Light" pitchFamily="34" charset="0"/>
                <a:ea typeface="Playfair Display Light" pitchFamily="34" charset="-122"/>
                <a:cs typeface="Playfair Display Light" pitchFamily="34" charset="-120"/>
              </a:rPr>
              <a:t>03</a:t>
            </a:r>
            <a:endParaRPr lang="en-US" sz="1350" dirty="0"/>
          </a:p>
        </p:txBody>
      </p:sp>
      <p:sp>
        <p:nvSpPr>
          <p:cNvPr id="12" name="Shape 10"/>
          <p:cNvSpPr/>
          <p:nvPr/>
        </p:nvSpPr>
        <p:spPr>
          <a:xfrm>
            <a:off x="9608939" y="1730454"/>
            <a:ext cx="4232672" cy="22860"/>
          </a:xfrm>
          <a:prstGeom prst="rect">
            <a:avLst/>
          </a:prstGeom>
          <a:solidFill>
            <a:srgbClr val="101014"/>
          </a:solidFill>
          <a:ln/>
        </p:spPr>
      </p:sp>
      <p:sp>
        <p:nvSpPr>
          <p:cNvPr id="13" name="Text 11"/>
          <p:cNvSpPr/>
          <p:nvPr/>
        </p:nvSpPr>
        <p:spPr>
          <a:xfrm>
            <a:off x="9608939" y="1864876"/>
            <a:ext cx="2218373" cy="277178"/>
          </a:xfrm>
          <a:prstGeom prst="rect">
            <a:avLst/>
          </a:prstGeom>
          <a:noFill/>
          <a:ln/>
        </p:spPr>
        <p:txBody>
          <a:bodyPr wrap="none" lIns="0" tIns="0" rIns="0" bIns="0" rtlCol="0" anchor="t"/>
          <a:lstStyle/>
          <a:p>
            <a:pPr algn="l" indent="0" marL="0">
              <a:lnSpc>
                <a:spcPts val="2150"/>
              </a:lnSpc>
              <a:buNone/>
            </a:pPr>
            <a:r>
              <a:rPr lang="en-US" sz="1700" b="1" dirty="0">
                <a:solidFill>
                  <a:srgbClr val="39393C"/>
                </a:solidFill>
                <a:latin typeface="Playfair Display Bold" pitchFamily="34" charset="0"/>
                <a:ea typeface="Playfair Display Bold" pitchFamily="34" charset="-122"/>
                <a:cs typeface="Playfair Display Bold" pitchFamily="34" charset="-120"/>
              </a:rPr>
              <a:t>Data Standardization</a:t>
            </a:r>
            <a:endParaRPr lang="en-US" sz="1700" dirty="0"/>
          </a:p>
        </p:txBody>
      </p:sp>
      <p:sp>
        <p:nvSpPr>
          <p:cNvPr id="14" name="Text 12"/>
          <p:cNvSpPr/>
          <p:nvPr/>
        </p:nvSpPr>
        <p:spPr>
          <a:xfrm>
            <a:off x="9608939" y="2248495"/>
            <a:ext cx="4232672" cy="2271713"/>
          </a:xfrm>
          <a:prstGeom prst="rect">
            <a:avLst/>
          </a:prstGeom>
          <a:noFill/>
          <a:ln/>
        </p:spPr>
        <p:txBody>
          <a:bodyPr wrap="square" lIns="0" tIns="0" rIns="0" bIns="0" rtlCol="0" anchor="t"/>
          <a:lstStyle/>
          <a:p>
            <a:pPr algn="l" indent="0" marL="0">
              <a:lnSpc>
                <a:spcPts val="2200"/>
              </a:lnSpc>
              <a:buNone/>
            </a:pPr>
            <a:r>
              <a:rPr lang="en-US" sz="1350" dirty="0">
                <a:solidFill>
                  <a:srgbClr val="39393C"/>
                </a:solidFill>
                <a:latin typeface="Open Sans" pitchFamily="34" charset="0"/>
                <a:ea typeface="Open Sans" pitchFamily="34" charset="-122"/>
                <a:cs typeface="Open Sans" pitchFamily="34" charset="-120"/>
              </a:rPr>
              <a:t>Applied StandardScaler to normalize all features to a common scale with zero mean and unit variance. This critical step ensures that features with larger numerical ranges don't dominate the distance calculations in K-Means. Standardization is essential for K-Means clustering since the algorithm relies on Euclidean distance metrics, making it sensitive to feature scales.</a:t>
            </a:r>
            <a:endParaRPr lang="en-US" sz="1350" dirty="0"/>
          </a:p>
        </p:txBody>
      </p:sp>
      <p:sp>
        <p:nvSpPr>
          <p:cNvPr id="15" name="Text 13"/>
          <p:cNvSpPr/>
          <p:nvPr/>
        </p:nvSpPr>
        <p:spPr>
          <a:xfrm>
            <a:off x="788670" y="5314117"/>
            <a:ext cx="3367326" cy="332780"/>
          </a:xfrm>
          <a:prstGeom prst="rect">
            <a:avLst/>
          </a:prstGeom>
          <a:noFill/>
          <a:ln/>
        </p:spPr>
        <p:txBody>
          <a:bodyPr wrap="none" lIns="0" tIns="0" rIns="0" bIns="0" rtlCol="0" anchor="t"/>
          <a:lstStyle/>
          <a:p>
            <a:pPr algn="l" indent="0" marL="0">
              <a:lnSpc>
                <a:spcPts val="2600"/>
              </a:lnSpc>
              <a:buNone/>
            </a:pPr>
            <a:r>
              <a:rPr lang="en-US" sz="2050" b="1" dirty="0">
                <a:solidFill>
                  <a:srgbClr val="101014"/>
                </a:solidFill>
                <a:latin typeface="Playfair Display Bold" pitchFamily="34" charset="0"/>
                <a:ea typeface="Playfair Display Bold" pitchFamily="34" charset="-122"/>
                <a:cs typeface="Playfair Display Bold" pitchFamily="34" charset="-120"/>
              </a:rPr>
              <a:t>Why Preprocessing Matters</a:t>
            </a:r>
            <a:endParaRPr lang="en-US" sz="2050" dirty="0"/>
          </a:p>
        </p:txBody>
      </p:sp>
      <p:sp>
        <p:nvSpPr>
          <p:cNvPr id="16" name="Text 14"/>
          <p:cNvSpPr/>
          <p:nvPr/>
        </p:nvSpPr>
        <p:spPr>
          <a:xfrm>
            <a:off x="788670" y="5824299"/>
            <a:ext cx="6310074" cy="1703784"/>
          </a:xfrm>
          <a:prstGeom prst="rect">
            <a:avLst/>
          </a:prstGeom>
          <a:noFill/>
          <a:ln/>
        </p:spPr>
        <p:txBody>
          <a:bodyPr wrap="square" lIns="0" tIns="0" rIns="0" bIns="0" rtlCol="0" anchor="t"/>
          <a:lstStyle/>
          <a:p>
            <a:pPr algn="l" indent="0" marL="0">
              <a:lnSpc>
                <a:spcPts val="2200"/>
              </a:lnSpc>
              <a:buNone/>
            </a:pPr>
            <a:r>
              <a:rPr lang="en-US" sz="1350" dirty="0">
                <a:solidFill>
                  <a:srgbClr val="39393C"/>
                </a:solidFill>
                <a:latin typeface="Open Sans" pitchFamily="34" charset="0"/>
                <a:ea typeface="Open Sans" pitchFamily="34" charset="-122"/>
                <a:cs typeface="Open Sans" pitchFamily="34" charset="-120"/>
              </a:rPr>
              <a:t>Proper preprocessing is the foundation of successful machine learning models. Without addressing missing values, our algorithm would fail or produce biased results. Feature selection reduces dimensionality and computational complexity while focusing on the most informative attributes. Standardization ensures fair treatment of all features regardless of their original measurement units.</a:t>
            </a:r>
            <a:endParaRPr lang="en-US" sz="1350" dirty="0"/>
          </a:p>
        </p:txBody>
      </p:sp>
      <p:sp>
        <p:nvSpPr>
          <p:cNvPr id="17" name="Text 15"/>
          <p:cNvSpPr/>
          <p:nvPr/>
        </p:nvSpPr>
        <p:spPr>
          <a:xfrm>
            <a:off x="7539276" y="5314117"/>
            <a:ext cx="3132653" cy="332780"/>
          </a:xfrm>
          <a:prstGeom prst="rect">
            <a:avLst/>
          </a:prstGeom>
          <a:noFill/>
          <a:ln/>
        </p:spPr>
        <p:txBody>
          <a:bodyPr wrap="none" lIns="0" tIns="0" rIns="0" bIns="0" rtlCol="0" anchor="t"/>
          <a:lstStyle/>
          <a:p>
            <a:pPr algn="l" indent="0" marL="0">
              <a:lnSpc>
                <a:spcPts val="2600"/>
              </a:lnSpc>
              <a:buNone/>
            </a:pPr>
            <a:r>
              <a:rPr lang="en-US" sz="2050" b="1" dirty="0">
                <a:solidFill>
                  <a:srgbClr val="101014"/>
                </a:solidFill>
                <a:latin typeface="Playfair Display Bold" pitchFamily="34" charset="0"/>
                <a:ea typeface="Playfair Display Bold" pitchFamily="34" charset="-122"/>
                <a:cs typeface="Playfair Display Bold" pitchFamily="34" charset="-120"/>
              </a:rPr>
              <a:t>Technical Considerations</a:t>
            </a:r>
            <a:endParaRPr lang="en-US" sz="2050" dirty="0"/>
          </a:p>
        </p:txBody>
      </p:sp>
      <p:sp>
        <p:nvSpPr>
          <p:cNvPr id="18" name="Text 16"/>
          <p:cNvSpPr/>
          <p:nvPr/>
        </p:nvSpPr>
        <p:spPr>
          <a:xfrm>
            <a:off x="7539276" y="5824299"/>
            <a:ext cx="6310074" cy="1419820"/>
          </a:xfrm>
          <a:prstGeom prst="rect">
            <a:avLst/>
          </a:prstGeom>
          <a:noFill/>
          <a:ln/>
        </p:spPr>
        <p:txBody>
          <a:bodyPr wrap="square" lIns="0" tIns="0" rIns="0" bIns="0" rtlCol="0" anchor="t"/>
          <a:lstStyle/>
          <a:p>
            <a:pPr algn="l" indent="0" marL="0">
              <a:lnSpc>
                <a:spcPts val="2200"/>
              </a:lnSpc>
              <a:buNone/>
            </a:pPr>
            <a:r>
              <a:rPr lang="en-US" sz="1350" dirty="0">
                <a:solidFill>
                  <a:srgbClr val="39393C"/>
                </a:solidFill>
                <a:latin typeface="Open Sans" pitchFamily="34" charset="0"/>
                <a:ea typeface="Open Sans" pitchFamily="34" charset="-122"/>
                <a:cs typeface="Open Sans" pitchFamily="34" charset="-120"/>
              </a:rPr>
              <a:t>We preserved the scaling parameters from the training data to ensure consistency in any future predictions or model extensions. Documentation of all preprocessing steps was maintained to ensure reproducibility. The final preprocessed dataset contained clean, scaled numerical features ready for clustering analysis.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9491"/>
            <a:ext cx="4207312" cy="403146"/>
          </a:xfrm>
          <a:prstGeom prst="rect">
            <a:avLst/>
          </a:prstGeom>
          <a:noFill/>
          <a:ln/>
        </p:spPr>
        <p:txBody>
          <a:bodyPr wrap="none" lIns="0" tIns="0" rIns="0" bIns="0" rtlCol="0" anchor="t"/>
          <a:lstStyle/>
          <a:p>
            <a:pPr algn="l" indent="0" marL="0">
              <a:lnSpc>
                <a:spcPts val="3150"/>
              </a:lnSpc>
              <a:buNone/>
            </a:pPr>
            <a:r>
              <a:rPr lang="en-US" sz="2500" b="1" dirty="0">
                <a:solidFill>
                  <a:srgbClr val="101014"/>
                </a:solidFill>
                <a:latin typeface="Playfair Display Bold" pitchFamily="34" charset="0"/>
                <a:ea typeface="Playfair Display Bold" pitchFamily="34" charset="-122"/>
                <a:cs typeface="Playfair Display Bold" pitchFamily="34" charset="-120"/>
              </a:rPr>
              <a:t>K-Means Clustering Method</a:t>
            </a:r>
            <a:endParaRPr lang="en-US" sz="2500" dirty="0"/>
          </a:p>
        </p:txBody>
      </p:sp>
      <p:pic>
        <p:nvPicPr>
          <p:cNvPr id="3" name="Image 0" descr="preencoded.png">    </p:cNvPr>
          <p:cNvPicPr>
            <a:picLocks noChangeAspect="1"/>
          </p:cNvPicPr>
          <p:nvPr/>
        </p:nvPicPr>
        <p:blipFill>
          <a:blip r:embed="rId1"/>
          <a:stretch>
            <a:fillRect/>
          </a:stretch>
        </p:blipFill>
        <p:spPr>
          <a:xfrm>
            <a:off x="793790" y="1431131"/>
            <a:ext cx="2834164" cy="2834164"/>
          </a:xfrm>
          <a:prstGeom prst="rect">
            <a:avLst/>
          </a:prstGeom>
        </p:spPr>
      </p:pic>
      <p:sp>
        <p:nvSpPr>
          <p:cNvPr id="4" name="Text 1"/>
          <p:cNvSpPr/>
          <p:nvPr/>
        </p:nvSpPr>
        <p:spPr>
          <a:xfrm>
            <a:off x="793790" y="4410313"/>
            <a:ext cx="1935123" cy="241816"/>
          </a:xfrm>
          <a:prstGeom prst="rect">
            <a:avLst/>
          </a:prstGeom>
          <a:noFill/>
          <a:ln/>
        </p:spPr>
        <p:txBody>
          <a:bodyPr wrap="none" lIns="0" tIns="0" rIns="0" bIns="0" rtlCol="0" anchor="t"/>
          <a:lstStyle/>
          <a:p>
            <a:pPr algn="l" indent="0" marL="0">
              <a:lnSpc>
                <a:spcPts val="1900"/>
              </a:lnSpc>
              <a:buNone/>
            </a:pPr>
            <a:r>
              <a:rPr lang="en-US" sz="1500" b="1" dirty="0">
                <a:solidFill>
                  <a:srgbClr val="101014"/>
                </a:solidFill>
                <a:latin typeface="Playfair Display Bold" pitchFamily="34" charset="0"/>
                <a:ea typeface="Playfair Display Bold" pitchFamily="34" charset="-122"/>
                <a:cs typeface="Playfair Display Bold" pitchFamily="34" charset="-120"/>
              </a:rPr>
              <a:t>The Elbow Method</a:t>
            </a:r>
            <a:endParaRPr lang="en-US" sz="1500" dirty="0"/>
          </a:p>
        </p:txBody>
      </p:sp>
      <p:sp>
        <p:nvSpPr>
          <p:cNvPr id="5" name="Text 2"/>
          <p:cNvSpPr/>
          <p:nvPr/>
        </p:nvSpPr>
        <p:spPr>
          <a:xfrm>
            <a:off x="793790" y="4781074"/>
            <a:ext cx="4360426" cy="1032272"/>
          </a:xfrm>
          <a:prstGeom prst="rect">
            <a:avLst/>
          </a:prstGeom>
          <a:noFill/>
          <a:ln/>
        </p:spPr>
        <p:txBody>
          <a:bodyPr wrap="square" lIns="0" tIns="0" rIns="0" bIns="0" rtlCol="0" anchor="t"/>
          <a:lstStyle/>
          <a:p>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The Elbow Method is a heuristic approach to determine the optimal number of clusters by plotting the within-cluster sum of squares (WCSS) against different k values. We tested cluster counts ranging from 2 to 10, looking for the "elbow point" where adding more clusters provides diminishing returns in terms of variance reduction.</a:t>
            </a:r>
            <a:endParaRPr lang="en-US" sz="1000" dirty="0"/>
          </a:p>
        </p:txBody>
      </p:sp>
      <p:sp>
        <p:nvSpPr>
          <p:cNvPr id="6" name="Text 3"/>
          <p:cNvSpPr/>
          <p:nvPr/>
        </p:nvSpPr>
        <p:spPr>
          <a:xfrm>
            <a:off x="5476399" y="1415058"/>
            <a:ext cx="2392442" cy="241816"/>
          </a:xfrm>
          <a:prstGeom prst="rect">
            <a:avLst/>
          </a:prstGeom>
          <a:noFill/>
          <a:ln/>
        </p:spPr>
        <p:txBody>
          <a:bodyPr wrap="none" lIns="0" tIns="0" rIns="0" bIns="0" rtlCol="0" anchor="t"/>
          <a:lstStyle/>
          <a:p>
            <a:pPr algn="l" indent="0" marL="0">
              <a:lnSpc>
                <a:spcPts val="1900"/>
              </a:lnSpc>
              <a:buNone/>
            </a:pPr>
            <a:r>
              <a:rPr lang="en-US" sz="1500" b="1" dirty="0">
                <a:solidFill>
                  <a:srgbClr val="101014"/>
                </a:solidFill>
                <a:latin typeface="Playfair Display Bold" pitchFamily="34" charset="0"/>
                <a:ea typeface="Playfair Display Bold" pitchFamily="34" charset="-122"/>
                <a:cs typeface="Playfair Display Bold" pitchFamily="34" charset="-120"/>
              </a:rPr>
              <a:t>Algorithm Implementation</a:t>
            </a:r>
            <a:endParaRPr lang="en-US" sz="1500" dirty="0"/>
          </a:p>
        </p:txBody>
      </p:sp>
      <p:sp>
        <p:nvSpPr>
          <p:cNvPr id="7" name="Text 4"/>
          <p:cNvSpPr/>
          <p:nvPr/>
        </p:nvSpPr>
        <p:spPr>
          <a:xfrm>
            <a:off x="5476399" y="1785818"/>
            <a:ext cx="8367712" cy="412909"/>
          </a:xfrm>
          <a:prstGeom prst="rect">
            <a:avLst/>
          </a:prstGeom>
          <a:noFill/>
          <a:ln/>
        </p:spPr>
        <p:txBody>
          <a:bodyPr wrap="square" lIns="0" tIns="0" rIns="0" bIns="0" rtlCol="0" anchor="t"/>
          <a:lstStyle/>
          <a:p>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K-Means clustering is an iterative algorithm that partitions data into k distinct, non-overlapping clusters. The algorithm works through the following process:</a:t>
            </a:r>
            <a:endParaRPr lang="en-US" sz="1000" dirty="0"/>
          </a:p>
        </p:txBody>
      </p:sp>
      <p:sp>
        <p:nvSpPr>
          <p:cNvPr id="8" name="Text 5"/>
          <p:cNvSpPr/>
          <p:nvPr/>
        </p:nvSpPr>
        <p:spPr>
          <a:xfrm>
            <a:off x="5476399" y="2314813"/>
            <a:ext cx="8367712" cy="412909"/>
          </a:xfrm>
          <a:prstGeom prst="rect">
            <a:avLst/>
          </a:prstGeom>
          <a:noFill/>
          <a:ln/>
        </p:spPr>
        <p:txBody>
          <a:bodyPr wrap="square" lIns="0" tIns="0" rIns="0" bIns="0" rtlCol="0" anchor="t"/>
          <a:lstStyle/>
          <a:p>
            <a:pPr algn="l" marL="342900" indent="-342900">
              <a:lnSpc>
                <a:spcPts val="1600"/>
              </a:lnSpc>
              <a:buSzPct val="100000"/>
              <a:buFont typeface="+mj-lt"/>
              <a:buAutoNum type="arabicPeriod" startAt="1"/>
            </a:pPr>
            <a:r>
              <a:rPr lang="en-US" sz="1000" b="1" dirty="0">
                <a:solidFill>
                  <a:srgbClr val="39393C"/>
                </a:solidFill>
                <a:latin typeface="Open Sans" pitchFamily="34" charset="0"/>
                <a:ea typeface="Open Sans" pitchFamily="34" charset="-122"/>
                <a:cs typeface="Open Sans" pitchFamily="34" charset="-120"/>
              </a:rPr>
              <a:t>Initialization:</a:t>
            </a:r>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 Randomly select k data points as initial cluster centroids using the k-means++ initialization method for better convergence</a:t>
            </a:r>
            <a:endParaRPr lang="en-US" sz="1000" dirty="0"/>
          </a:p>
        </p:txBody>
      </p:sp>
      <p:sp>
        <p:nvSpPr>
          <p:cNvPr id="9" name="Text 6"/>
          <p:cNvSpPr/>
          <p:nvPr/>
        </p:nvSpPr>
        <p:spPr>
          <a:xfrm>
            <a:off x="5476399" y="2772847"/>
            <a:ext cx="836771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2"/>
            </a:pPr>
            <a:r>
              <a:rPr lang="en-US" sz="1000" b="1" dirty="0">
                <a:solidFill>
                  <a:srgbClr val="39393C"/>
                </a:solidFill>
                <a:latin typeface="Open Sans" pitchFamily="34" charset="0"/>
                <a:ea typeface="Open Sans" pitchFamily="34" charset="-122"/>
                <a:cs typeface="Open Sans" pitchFamily="34" charset="-120"/>
              </a:rPr>
              <a:t>Assignment:</a:t>
            </a:r>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 Assign each data point to the nearest centroid based on Euclidean distance, creating k clusters</a:t>
            </a:r>
            <a:endParaRPr lang="en-US" sz="1000" dirty="0"/>
          </a:p>
        </p:txBody>
      </p:sp>
      <p:sp>
        <p:nvSpPr>
          <p:cNvPr id="10" name="Text 7"/>
          <p:cNvSpPr/>
          <p:nvPr/>
        </p:nvSpPr>
        <p:spPr>
          <a:xfrm>
            <a:off x="5476399" y="3024426"/>
            <a:ext cx="8367712" cy="206454"/>
          </a:xfrm>
          <a:prstGeom prst="rect">
            <a:avLst/>
          </a:prstGeom>
          <a:noFill/>
          <a:ln/>
        </p:spPr>
        <p:txBody>
          <a:bodyPr wrap="none" lIns="0" tIns="0" rIns="0" bIns="0" rtlCol="0" anchor="t"/>
          <a:lstStyle/>
          <a:p>
            <a:pPr algn="l" marL="342900" indent="-342900">
              <a:lnSpc>
                <a:spcPts val="1600"/>
              </a:lnSpc>
              <a:buSzPct val="100000"/>
              <a:buFont typeface="+mj-lt"/>
              <a:buAutoNum type="arabicPeriod" startAt="3"/>
            </a:pPr>
            <a:r>
              <a:rPr lang="en-US" sz="1000" b="1" dirty="0">
                <a:solidFill>
                  <a:srgbClr val="39393C"/>
                </a:solidFill>
                <a:latin typeface="Open Sans" pitchFamily="34" charset="0"/>
                <a:ea typeface="Open Sans" pitchFamily="34" charset="-122"/>
                <a:cs typeface="Open Sans" pitchFamily="34" charset="-120"/>
              </a:rPr>
              <a:t>Update:</a:t>
            </a:r>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 Recalculate cluster centroids as the mean of all points assigned to each cluster</a:t>
            </a:r>
            <a:endParaRPr lang="en-US" sz="1000" dirty="0"/>
          </a:p>
        </p:txBody>
      </p:sp>
      <p:sp>
        <p:nvSpPr>
          <p:cNvPr id="11" name="Text 8"/>
          <p:cNvSpPr/>
          <p:nvPr/>
        </p:nvSpPr>
        <p:spPr>
          <a:xfrm>
            <a:off x="5476399" y="3276005"/>
            <a:ext cx="8367712" cy="412909"/>
          </a:xfrm>
          <a:prstGeom prst="rect">
            <a:avLst/>
          </a:prstGeom>
          <a:noFill/>
          <a:ln/>
        </p:spPr>
        <p:txBody>
          <a:bodyPr wrap="square" lIns="0" tIns="0" rIns="0" bIns="0" rtlCol="0" anchor="t"/>
          <a:lstStyle/>
          <a:p>
            <a:pPr algn="l" marL="342900" indent="-342900">
              <a:lnSpc>
                <a:spcPts val="1600"/>
              </a:lnSpc>
              <a:buSzPct val="100000"/>
              <a:buFont typeface="+mj-lt"/>
              <a:buAutoNum type="arabicPeriod" startAt="4"/>
            </a:pPr>
            <a:r>
              <a:rPr lang="en-US" sz="1000" b="1" dirty="0">
                <a:solidFill>
                  <a:srgbClr val="39393C"/>
                </a:solidFill>
                <a:latin typeface="Open Sans" pitchFamily="34" charset="0"/>
                <a:ea typeface="Open Sans" pitchFamily="34" charset="-122"/>
                <a:cs typeface="Open Sans" pitchFamily="34" charset="-120"/>
              </a:rPr>
              <a:t>Iteration:</a:t>
            </a:r>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 Repeat assignment and update steps until convergence (centroids no longer move significantly) or maximum iterations reached</a:t>
            </a:r>
            <a:endParaRPr lang="en-US" sz="1000" dirty="0"/>
          </a:p>
        </p:txBody>
      </p:sp>
      <p:sp>
        <p:nvSpPr>
          <p:cNvPr id="12" name="Text 9"/>
          <p:cNvSpPr/>
          <p:nvPr/>
        </p:nvSpPr>
        <p:spPr>
          <a:xfrm>
            <a:off x="5476399" y="3804999"/>
            <a:ext cx="8367712" cy="619363"/>
          </a:xfrm>
          <a:prstGeom prst="rect">
            <a:avLst/>
          </a:prstGeom>
          <a:noFill/>
          <a:ln/>
        </p:spPr>
        <p:txBody>
          <a:bodyPr wrap="square" lIns="0" tIns="0" rIns="0" bIns="0" rtlCol="0" anchor="t"/>
          <a:lstStyle/>
          <a:p>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We configured the algorithm with parameters optimized for our dataset: max_iter=300, n_init=10 (multiple initializations to avoid local minima), and random_state=42 for reproducibility. The algorithm successfully converged, assigning each house to one of the identified optimal clusters.</a:t>
            </a:r>
            <a:endParaRPr lang="en-US" sz="1000" dirty="0"/>
          </a:p>
        </p:txBody>
      </p:sp>
      <p:pic>
        <p:nvPicPr>
          <p:cNvPr id="13" name="Image 1" descr="preencoded.png">    </p:cNvPr>
          <p:cNvPicPr>
            <a:picLocks noChangeAspect="1"/>
          </p:cNvPicPr>
          <p:nvPr/>
        </p:nvPicPr>
        <p:blipFill>
          <a:blip r:embed="rId2"/>
          <a:stretch>
            <a:fillRect/>
          </a:stretch>
        </p:blipFill>
        <p:spPr>
          <a:xfrm>
            <a:off x="793790" y="6074450"/>
            <a:ext cx="4347567" cy="516017"/>
          </a:xfrm>
          <a:prstGeom prst="rect">
            <a:avLst/>
          </a:prstGeom>
        </p:spPr>
      </p:pic>
      <p:sp>
        <p:nvSpPr>
          <p:cNvPr id="14" name="Text 10"/>
          <p:cNvSpPr/>
          <p:nvPr/>
        </p:nvSpPr>
        <p:spPr>
          <a:xfrm>
            <a:off x="922734" y="6719411"/>
            <a:ext cx="1612583" cy="201454"/>
          </a:xfrm>
          <a:prstGeom prst="rect">
            <a:avLst/>
          </a:prstGeom>
          <a:noFill/>
          <a:ln/>
        </p:spPr>
        <p:txBody>
          <a:bodyPr wrap="none" lIns="0" tIns="0" rIns="0" bIns="0" rtlCol="0" anchor="t"/>
          <a:lstStyle/>
          <a:p>
            <a:pPr algn="l" indent="0" marL="0">
              <a:lnSpc>
                <a:spcPts val="1550"/>
              </a:lnSpc>
              <a:buNone/>
            </a:pPr>
            <a:r>
              <a:rPr lang="en-US" sz="1250" b="1" dirty="0">
                <a:solidFill>
                  <a:srgbClr val="39393C"/>
                </a:solidFill>
                <a:latin typeface="Playfair Display Bold" pitchFamily="34" charset="0"/>
                <a:ea typeface="Playfair Display Bold" pitchFamily="34" charset="-122"/>
                <a:cs typeface="Playfair Display Bold" pitchFamily="34" charset="-120"/>
              </a:rPr>
              <a:t>Cluster Formation</a:t>
            </a:r>
            <a:endParaRPr lang="en-US" sz="1250" dirty="0"/>
          </a:p>
        </p:txBody>
      </p:sp>
      <p:sp>
        <p:nvSpPr>
          <p:cNvPr id="15" name="Text 11"/>
          <p:cNvSpPr/>
          <p:nvPr/>
        </p:nvSpPr>
        <p:spPr>
          <a:xfrm>
            <a:off x="922734" y="6998256"/>
            <a:ext cx="4089678" cy="412909"/>
          </a:xfrm>
          <a:prstGeom prst="rect">
            <a:avLst/>
          </a:prstGeom>
          <a:noFill/>
          <a:ln/>
        </p:spPr>
        <p:txBody>
          <a:bodyPr wrap="square" lIns="0" tIns="0" rIns="0" bIns="0" rtlCol="0" anchor="t"/>
          <a:lstStyle/>
          <a:p>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Houses with similar characteristics naturally grouped together based on their standardized feature values</a:t>
            </a:r>
            <a:endParaRPr lang="en-US" sz="1000" dirty="0"/>
          </a:p>
        </p:txBody>
      </p:sp>
      <p:pic>
        <p:nvPicPr>
          <p:cNvPr id="16" name="Image 2" descr="preencoded.png">    </p:cNvPr>
          <p:cNvPicPr>
            <a:picLocks noChangeAspect="1"/>
          </p:cNvPicPr>
          <p:nvPr/>
        </p:nvPicPr>
        <p:blipFill>
          <a:blip r:embed="rId3"/>
          <a:stretch>
            <a:fillRect/>
          </a:stretch>
        </p:blipFill>
        <p:spPr>
          <a:xfrm>
            <a:off x="5141357" y="6074450"/>
            <a:ext cx="4347567" cy="516017"/>
          </a:xfrm>
          <a:prstGeom prst="rect">
            <a:avLst/>
          </a:prstGeom>
        </p:spPr>
      </p:pic>
      <p:sp>
        <p:nvSpPr>
          <p:cNvPr id="17" name="Text 12"/>
          <p:cNvSpPr/>
          <p:nvPr/>
        </p:nvSpPr>
        <p:spPr>
          <a:xfrm>
            <a:off x="5270302" y="6719411"/>
            <a:ext cx="1612583" cy="201454"/>
          </a:xfrm>
          <a:prstGeom prst="rect">
            <a:avLst/>
          </a:prstGeom>
          <a:noFill/>
          <a:ln/>
        </p:spPr>
        <p:txBody>
          <a:bodyPr wrap="none" lIns="0" tIns="0" rIns="0" bIns="0" rtlCol="0" anchor="t"/>
          <a:lstStyle/>
          <a:p>
            <a:pPr algn="l" indent="0" marL="0">
              <a:lnSpc>
                <a:spcPts val="1550"/>
              </a:lnSpc>
              <a:buNone/>
            </a:pPr>
            <a:r>
              <a:rPr lang="en-US" sz="1250" b="1" dirty="0">
                <a:solidFill>
                  <a:srgbClr val="39393C"/>
                </a:solidFill>
                <a:latin typeface="Playfair Display Bold" pitchFamily="34" charset="0"/>
                <a:ea typeface="Playfair Display Bold" pitchFamily="34" charset="-122"/>
                <a:cs typeface="Playfair Display Bold" pitchFamily="34" charset="-120"/>
              </a:rPr>
              <a:t>Label Assignment</a:t>
            </a:r>
            <a:endParaRPr lang="en-US" sz="1250" dirty="0"/>
          </a:p>
        </p:txBody>
      </p:sp>
      <p:sp>
        <p:nvSpPr>
          <p:cNvPr id="18" name="Text 13"/>
          <p:cNvSpPr/>
          <p:nvPr/>
        </p:nvSpPr>
        <p:spPr>
          <a:xfrm>
            <a:off x="5270302" y="6998256"/>
            <a:ext cx="4089678" cy="412909"/>
          </a:xfrm>
          <a:prstGeom prst="rect">
            <a:avLst/>
          </a:prstGeom>
          <a:noFill/>
          <a:ln/>
        </p:spPr>
        <p:txBody>
          <a:bodyPr wrap="square" lIns="0" tIns="0" rIns="0" bIns="0" rtlCol="0" anchor="t"/>
          <a:lstStyle/>
          <a:p>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Each property received a cluster label (0, 1, 2, etc.) indicating its market segment membership</a:t>
            </a:r>
            <a:endParaRPr lang="en-US" sz="1000" dirty="0"/>
          </a:p>
        </p:txBody>
      </p:sp>
      <p:pic>
        <p:nvPicPr>
          <p:cNvPr id="19" name="Image 3" descr="preencoded.png">    </p:cNvPr>
          <p:cNvPicPr>
            <a:picLocks noChangeAspect="1"/>
          </p:cNvPicPr>
          <p:nvPr/>
        </p:nvPicPr>
        <p:blipFill>
          <a:blip r:embed="rId4"/>
          <a:stretch>
            <a:fillRect/>
          </a:stretch>
        </p:blipFill>
        <p:spPr>
          <a:xfrm>
            <a:off x="9488924" y="6074450"/>
            <a:ext cx="4347567" cy="516017"/>
          </a:xfrm>
          <a:prstGeom prst="rect">
            <a:avLst/>
          </a:prstGeom>
        </p:spPr>
      </p:pic>
      <p:sp>
        <p:nvSpPr>
          <p:cNvPr id="20" name="Text 14"/>
          <p:cNvSpPr/>
          <p:nvPr/>
        </p:nvSpPr>
        <p:spPr>
          <a:xfrm>
            <a:off x="9617869" y="6719411"/>
            <a:ext cx="1612583" cy="201454"/>
          </a:xfrm>
          <a:prstGeom prst="rect">
            <a:avLst/>
          </a:prstGeom>
          <a:noFill/>
          <a:ln/>
        </p:spPr>
        <p:txBody>
          <a:bodyPr wrap="none" lIns="0" tIns="0" rIns="0" bIns="0" rtlCol="0" anchor="t"/>
          <a:lstStyle/>
          <a:p>
            <a:pPr algn="l" indent="0" marL="0">
              <a:lnSpc>
                <a:spcPts val="1550"/>
              </a:lnSpc>
              <a:buNone/>
            </a:pPr>
            <a:r>
              <a:rPr lang="en-US" sz="1250" b="1" dirty="0">
                <a:solidFill>
                  <a:srgbClr val="39393C"/>
                </a:solidFill>
                <a:latin typeface="Playfair Display Bold" pitchFamily="34" charset="0"/>
                <a:ea typeface="Playfair Display Bold" pitchFamily="34" charset="-122"/>
                <a:cs typeface="Playfair Display Bold" pitchFamily="34" charset="-120"/>
              </a:rPr>
              <a:t>Validation</a:t>
            </a:r>
            <a:endParaRPr lang="en-US" sz="1250" dirty="0"/>
          </a:p>
        </p:txBody>
      </p:sp>
      <p:sp>
        <p:nvSpPr>
          <p:cNvPr id="21" name="Text 15"/>
          <p:cNvSpPr/>
          <p:nvPr/>
        </p:nvSpPr>
        <p:spPr>
          <a:xfrm>
            <a:off x="9617869" y="6998256"/>
            <a:ext cx="4089678" cy="412909"/>
          </a:xfrm>
          <a:prstGeom prst="rect">
            <a:avLst/>
          </a:prstGeom>
          <a:noFill/>
          <a:ln/>
        </p:spPr>
        <p:txBody>
          <a:bodyPr wrap="square" lIns="0" tIns="0" rIns="0" bIns="0" rtlCol="0" anchor="t"/>
          <a:lstStyle/>
          <a:p>
            <a:pPr algn="l" indent="0" marL="0">
              <a:lnSpc>
                <a:spcPts val="1600"/>
              </a:lnSpc>
              <a:buNone/>
            </a:pPr>
            <a:r>
              <a:rPr lang="en-US" sz="1000" dirty="0">
                <a:solidFill>
                  <a:srgbClr val="39393C"/>
                </a:solidFill>
                <a:latin typeface="Open Sans" pitchFamily="34" charset="0"/>
                <a:ea typeface="Open Sans" pitchFamily="34" charset="-122"/>
                <a:cs typeface="Open Sans" pitchFamily="34" charset="-120"/>
              </a:rPr>
              <a:t>Evaluated cluster quality using silhouette scores and visual inspection of cluster separation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1049" y="661630"/>
            <a:ext cx="4390311" cy="511969"/>
          </a:xfrm>
          <a:prstGeom prst="rect">
            <a:avLst/>
          </a:prstGeom>
          <a:noFill/>
          <a:ln/>
        </p:spPr>
        <p:txBody>
          <a:bodyPr wrap="none" lIns="0" tIns="0" rIns="0" bIns="0" rtlCol="0" anchor="t"/>
          <a:lstStyle/>
          <a:p>
            <a:pPr algn="l" indent="0" marL="0">
              <a:lnSpc>
                <a:spcPts val="4000"/>
              </a:lnSpc>
              <a:buNone/>
            </a:pPr>
            <a:r>
              <a:rPr lang="en-US" sz="3200" b="1" dirty="0">
                <a:solidFill>
                  <a:srgbClr val="101014"/>
                </a:solidFill>
                <a:latin typeface="Playfair Display Bold" pitchFamily="34" charset="0"/>
                <a:ea typeface="Playfair Display Bold" pitchFamily="34" charset="-122"/>
                <a:cs typeface="Playfair Display Bold" pitchFamily="34" charset="-120"/>
              </a:rPr>
              <a:t>Results &amp; Visualization</a:t>
            </a:r>
            <a:endParaRPr lang="en-US" sz="3200" dirty="0"/>
          </a:p>
        </p:txBody>
      </p:sp>
      <p:sp>
        <p:nvSpPr>
          <p:cNvPr id="3" name="Text 1"/>
          <p:cNvSpPr/>
          <p:nvPr/>
        </p:nvSpPr>
        <p:spPr>
          <a:xfrm>
            <a:off x="771049" y="1583174"/>
            <a:ext cx="2457688" cy="307181"/>
          </a:xfrm>
          <a:prstGeom prst="rect">
            <a:avLst/>
          </a:prstGeom>
          <a:noFill/>
          <a:ln/>
        </p:spPr>
        <p:txBody>
          <a:bodyPr wrap="none" lIns="0" tIns="0" rIns="0" bIns="0" rtlCol="0" anchor="t"/>
          <a:lstStyle/>
          <a:p>
            <a:pPr algn="l" indent="0" marL="0">
              <a:lnSpc>
                <a:spcPts val="2400"/>
              </a:lnSpc>
              <a:buNone/>
            </a:pPr>
            <a:r>
              <a:rPr lang="en-US" sz="1900" b="1" dirty="0">
                <a:solidFill>
                  <a:srgbClr val="101014"/>
                </a:solidFill>
                <a:latin typeface="Playfair Display Bold" pitchFamily="34" charset="0"/>
                <a:ea typeface="Playfair Display Bold" pitchFamily="34" charset="-122"/>
                <a:cs typeface="Playfair Display Bold" pitchFamily="34" charset="-120"/>
              </a:rPr>
              <a:t>Cluster Analysis</a:t>
            </a:r>
            <a:endParaRPr lang="en-US" sz="1900" dirty="0"/>
          </a:p>
        </p:txBody>
      </p:sp>
      <p:sp>
        <p:nvSpPr>
          <p:cNvPr id="4" name="Text 2"/>
          <p:cNvSpPr/>
          <p:nvPr/>
        </p:nvSpPr>
        <p:spPr>
          <a:xfrm>
            <a:off x="771049" y="2054185"/>
            <a:ext cx="6344364" cy="1310283"/>
          </a:xfrm>
          <a:prstGeom prst="rect">
            <a:avLst/>
          </a:prstGeom>
          <a:noFill/>
          <a:ln/>
        </p:spPr>
        <p:txBody>
          <a:bodyPr wrap="square" lIns="0" tIns="0" rIns="0" bIns="0" rtlCol="0" anchor="t"/>
          <a:lstStyle/>
          <a:p>
            <a:pPr algn="l" indent="0" marL="0">
              <a:lnSpc>
                <a:spcPts val="2050"/>
              </a:lnSpc>
              <a:buNone/>
            </a:pPr>
            <a:r>
              <a:rPr lang="en-US" sz="1250" dirty="0">
                <a:solidFill>
                  <a:srgbClr val="39393C"/>
                </a:solidFill>
                <a:latin typeface="Open Sans" pitchFamily="34" charset="0"/>
                <a:ea typeface="Open Sans" pitchFamily="34" charset="-122"/>
                <a:cs typeface="Open Sans" pitchFamily="34" charset="-120"/>
              </a:rPr>
              <a:t>The K-Means algorithm successfully identified distinct clusters within the housing dataset, with each cluster representing a unique market segment characterized by specific combinations of property features and price ranges. The clustering revealed natural groupings that align with intuitive real estate categories such as starter homes, mid-market properties, and luxury residences.</a:t>
            </a:r>
            <a:endParaRPr lang="en-US" sz="1250" dirty="0"/>
          </a:p>
        </p:txBody>
      </p:sp>
      <p:sp>
        <p:nvSpPr>
          <p:cNvPr id="5" name="Text 3"/>
          <p:cNvSpPr/>
          <p:nvPr/>
        </p:nvSpPr>
        <p:spPr>
          <a:xfrm>
            <a:off x="771049" y="3511868"/>
            <a:ext cx="6344364" cy="1048226"/>
          </a:xfrm>
          <a:prstGeom prst="rect">
            <a:avLst/>
          </a:prstGeom>
          <a:noFill/>
          <a:ln/>
        </p:spPr>
        <p:txBody>
          <a:bodyPr wrap="square" lIns="0" tIns="0" rIns="0" bIns="0" rtlCol="0" anchor="t"/>
          <a:lstStyle/>
          <a:p>
            <a:pPr algn="l" indent="0" marL="0">
              <a:lnSpc>
                <a:spcPts val="2050"/>
              </a:lnSpc>
              <a:buNone/>
            </a:pPr>
            <a:r>
              <a:rPr lang="en-US" sz="1250" dirty="0">
                <a:solidFill>
                  <a:srgbClr val="39393C"/>
                </a:solidFill>
                <a:latin typeface="Open Sans" pitchFamily="34" charset="0"/>
                <a:ea typeface="Open Sans" pitchFamily="34" charset="-122"/>
                <a:cs typeface="Open Sans" pitchFamily="34" charset="-120"/>
              </a:rPr>
              <a:t>Each cluster exhibited coherent internal characteristics with houses sharing similar lot sizes, quality ratings, living areas, and price points. The between-cluster variance significantly exceeded within-cluster variance, indicating strong separation and meaningful differentiation between groups.</a:t>
            </a:r>
            <a:endParaRPr lang="en-US" sz="1250" dirty="0"/>
          </a:p>
        </p:txBody>
      </p:sp>
      <p:sp>
        <p:nvSpPr>
          <p:cNvPr id="6" name="Text 4"/>
          <p:cNvSpPr/>
          <p:nvPr/>
        </p:nvSpPr>
        <p:spPr>
          <a:xfrm>
            <a:off x="7522607" y="1583174"/>
            <a:ext cx="2488763" cy="307181"/>
          </a:xfrm>
          <a:prstGeom prst="rect">
            <a:avLst/>
          </a:prstGeom>
          <a:noFill/>
          <a:ln/>
        </p:spPr>
        <p:txBody>
          <a:bodyPr wrap="none" lIns="0" tIns="0" rIns="0" bIns="0" rtlCol="0" anchor="t"/>
          <a:lstStyle/>
          <a:p>
            <a:pPr algn="l" indent="0" marL="0">
              <a:lnSpc>
                <a:spcPts val="2400"/>
              </a:lnSpc>
              <a:buNone/>
            </a:pPr>
            <a:r>
              <a:rPr lang="en-US" sz="1900" b="1" dirty="0">
                <a:solidFill>
                  <a:srgbClr val="101014"/>
                </a:solidFill>
                <a:latin typeface="Playfair Display Bold" pitchFamily="34" charset="0"/>
                <a:ea typeface="Playfair Display Bold" pitchFamily="34" charset="-122"/>
                <a:cs typeface="Playfair Display Bold" pitchFamily="34" charset="-120"/>
              </a:rPr>
              <a:t>Visual Representation</a:t>
            </a:r>
            <a:endParaRPr lang="en-US" sz="1900" dirty="0"/>
          </a:p>
        </p:txBody>
      </p:sp>
      <p:sp>
        <p:nvSpPr>
          <p:cNvPr id="7" name="Text 5"/>
          <p:cNvSpPr/>
          <p:nvPr/>
        </p:nvSpPr>
        <p:spPr>
          <a:xfrm>
            <a:off x="7522607" y="2054185"/>
            <a:ext cx="6344364" cy="1310283"/>
          </a:xfrm>
          <a:prstGeom prst="rect">
            <a:avLst/>
          </a:prstGeom>
          <a:noFill/>
          <a:ln/>
        </p:spPr>
        <p:txBody>
          <a:bodyPr wrap="square" lIns="0" tIns="0" rIns="0" bIns="0" rtlCol="0" anchor="t"/>
          <a:lstStyle/>
          <a:p>
            <a:pPr algn="l" indent="0" marL="0">
              <a:lnSpc>
                <a:spcPts val="2050"/>
              </a:lnSpc>
              <a:buNone/>
            </a:pPr>
            <a:r>
              <a:rPr lang="en-US" sz="1250" dirty="0">
                <a:solidFill>
                  <a:srgbClr val="39393C"/>
                </a:solidFill>
                <a:latin typeface="Open Sans" pitchFamily="34" charset="0"/>
                <a:ea typeface="Open Sans" pitchFamily="34" charset="-122"/>
                <a:cs typeface="Open Sans" pitchFamily="34" charset="-120"/>
              </a:rPr>
              <a:t>We employed dimensionality reduction techniques (PCA) to project the multi-dimensional feature space into 2D for visualization purposes. The resulting scatter plot clearly demonstrates the separation between clusters, with each cluster represented by a distinct color. The visualization confirms that houses within the same cluster occupy similar regions in the feature space.</a:t>
            </a:r>
            <a:endParaRPr lang="en-US" sz="1250" dirty="0"/>
          </a:p>
        </p:txBody>
      </p:sp>
      <p:sp>
        <p:nvSpPr>
          <p:cNvPr id="8" name="Text 6"/>
          <p:cNvSpPr/>
          <p:nvPr/>
        </p:nvSpPr>
        <p:spPr>
          <a:xfrm>
            <a:off x="7522607" y="3511868"/>
            <a:ext cx="6344364" cy="1048226"/>
          </a:xfrm>
          <a:prstGeom prst="rect">
            <a:avLst/>
          </a:prstGeom>
          <a:noFill/>
          <a:ln/>
        </p:spPr>
        <p:txBody>
          <a:bodyPr wrap="square" lIns="0" tIns="0" rIns="0" bIns="0" rtlCol="0" anchor="t"/>
          <a:lstStyle/>
          <a:p>
            <a:pPr algn="l" indent="0" marL="0">
              <a:lnSpc>
                <a:spcPts val="2050"/>
              </a:lnSpc>
              <a:buNone/>
            </a:pPr>
            <a:r>
              <a:rPr lang="en-US" sz="1250" dirty="0">
                <a:solidFill>
                  <a:srgbClr val="39393C"/>
                </a:solidFill>
                <a:latin typeface="Open Sans" pitchFamily="34" charset="0"/>
                <a:ea typeface="Open Sans" pitchFamily="34" charset="-122"/>
                <a:cs typeface="Open Sans" pitchFamily="34" charset="-120"/>
              </a:rPr>
              <a:t>Cluster boundaries appear well-defined with minimal overlap, suggesting that the chosen number of clusters effectively captures the underlying structure of the housing market. Some edge cases exist between cluster boundaries, representing transitional properties that share characteristics of multiple segments.</a:t>
            </a:r>
            <a:endParaRPr lang="en-US" sz="1250" dirty="0"/>
          </a:p>
        </p:txBody>
      </p:sp>
      <p:sp>
        <p:nvSpPr>
          <p:cNvPr id="9" name="Text 7"/>
          <p:cNvSpPr/>
          <p:nvPr/>
        </p:nvSpPr>
        <p:spPr>
          <a:xfrm>
            <a:off x="771049" y="4973717"/>
            <a:ext cx="4226243" cy="540663"/>
          </a:xfrm>
          <a:prstGeom prst="rect">
            <a:avLst/>
          </a:prstGeom>
          <a:noFill/>
          <a:ln/>
        </p:spPr>
        <p:txBody>
          <a:bodyPr wrap="none" lIns="0" tIns="0" rIns="0" bIns="0" rtlCol="0" anchor="t"/>
          <a:lstStyle/>
          <a:p>
            <a:pPr algn="ctr" indent="0" marL="0">
              <a:lnSpc>
                <a:spcPts val="4250"/>
              </a:lnSpc>
              <a:buNone/>
            </a:pPr>
            <a:r>
              <a:rPr lang="en-US" sz="4250" b="1" dirty="0">
                <a:solidFill>
                  <a:srgbClr val="39393C"/>
                </a:solidFill>
                <a:latin typeface="Playfair Display Bold" pitchFamily="34" charset="0"/>
                <a:ea typeface="Playfair Display Bold" pitchFamily="34" charset="-122"/>
                <a:cs typeface="Playfair Display Bold" pitchFamily="34" charset="-120"/>
              </a:rPr>
              <a:t>3-5</a:t>
            </a:r>
            <a:endParaRPr lang="en-US" sz="4250" dirty="0"/>
          </a:p>
        </p:txBody>
      </p:sp>
      <p:sp>
        <p:nvSpPr>
          <p:cNvPr id="10" name="Text 8"/>
          <p:cNvSpPr/>
          <p:nvPr/>
        </p:nvSpPr>
        <p:spPr>
          <a:xfrm>
            <a:off x="1860113" y="5719167"/>
            <a:ext cx="2047994" cy="255984"/>
          </a:xfrm>
          <a:prstGeom prst="rect">
            <a:avLst/>
          </a:prstGeom>
          <a:noFill/>
          <a:ln/>
        </p:spPr>
        <p:txBody>
          <a:bodyPr wrap="none" lIns="0" tIns="0" rIns="0" bIns="0" rtlCol="0" anchor="t"/>
          <a:lstStyle/>
          <a:p>
            <a:pPr algn="ctr" indent="0" marL="0">
              <a:lnSpc>
                <a:spcPts val="2000"/>
              </a:lnSpc>
              <a:buNone/>
            </a:pPr>
            <a:r>
              <a:rPr lang="en-US" sz="1600" b="1" dirty="0">
                <a:solidFill>
                  <a:srgbClr val="39393C"/>
                </a:solidFill>
                <a:latin typeface="Playfair Display Bold" pitchFamily="34" charset="0"/>
                <a:ea typeface="Playfair Display Bold" pitchFamily="34" charset="-122"/>
                <a:cs typeface="Playfair Display Bold" pitchFamily="34" charset="-120"/>
              </a:rPr>
              <a:t>Optimal Clusters</a:t>
            </a:r>
            <a:endParaRPr lang="en-US" sz="1600" dirty="0"/>
          </a:p>
        </p:txBody>
      </p:sp>
      <p:sp>
        <p:nvSpPr>
          <p:cNvPr id="11" name="Text 9"/>
          <p:cNvSpPr/>
          <p:nvPr/>
        </p:nvSpPr>
        <p:spPr>
          <a:xfrm>
            <a:off x="771049" y="6073378"/>
            <a:ext cx="4226243" cy="524113"/>
          </a:xfrm>
          <a:prstGeom prst="rect">
            <a:avLst/>
          </a:prstGeom>
          <a:noFill/>
          <a:ln/>
        </p:spPr>
        <p:txBody>
          <a:bodyPr wrap="square" lIns="0" tIns="0" rIns="0" bIns="0" rtlCol="0" anchor="t"/>
          <a:lstStyle/>
          <a:p>
            <a:pPr algn="ctr" indent="0" marL="0">
              <a:lnSpc>
                <a:spcPts val="2050"/>
              </a:lnSpc>
              <a:buNone/>
            </a:pPr>
            <a:r>
              <a:rPr lang="en-US" sz="1250" dirty="0">
                <a:solidFill>
                  <a:srgbClr val="39393C"/>
                </a:solidFill>
                <a:latin typeface="Open Sans" pitchFamily="34" charset="0"/>
                <a:ea typeface="Open Sans" pitchFamily="34" charset="-122"/>
                <a:cs typeface="Open Sans" pitchFamily="34" charset="-120"/>
              </a:rPr>
              <a:t>Number of distinct market segments identified in the dataset</a:t>
            </a:r>
            <a:endParaRPr lang="en-US" sz="1250" dirty="0"/>
          </a:p>
        </p:txBody>
      </p:sp>
      <p:sp>
        <p:nvSpPr>
          <p:cNvPr id="12" name="Text 10"/>
          <p:cNvSpPr/>
          <p:nvPr/>
        </p:nvSpPr>
        <p:spPr>
          <a:xfrm>
            <a:off x="5202079" y="4973717"/>
            <a:ext cx="4226243" cy="540663"/>
          </a:xfrm>
          <a:prstGeom prst="rect">
            <a:avLst/>
          </a:prstGeom>
          <a:noFill/>
          <a:ln/>
        </p:spPr>
        <p:txBody>
          <a:bodyPr wrap="none" lIns="0" tIns="0" rIns="0" bIns="0" rtlCol="0" anchor="t"/>
          <a:lstStyle/>
          <a:p>
            <a:pPr algn="ctr" indent="0" marL="0">
              <a:lnSpc>
                <a:spcPts val="4250"/>
              </a:lnSpc>
              <a:buNone/>
            </a:pPr>
            <a:r>
              <a:rPr lang="en-US" sz="4250" b="1" dirty="0">
                <a:solidFill>
                  <a:srgbClr val="39393C"/>
                </a:solidFill>
                <a:latin typeface="Playfair Display Bold" pitchFamily="34" charset="0"/>
                <a:ea typeface="Playfair Display Bold" pitchFamily="34" charset="-122"/>
                <a:cs typeface="Playfair Display Bold" pitchFamily="34" charset="-120"/>
              </a:rPr>
              <a:t>0.45+</a:t>
            </a:r>
            <a:endParaRPr lang="en-US" sz="4250" dirty="0"/>
          </a:p>
        </p:txBody>
      </p:sp>
      <p:sp>
        <p:nvSpPr>
          <p:cNvPr id="13" name="Text 11"/>
          <p:cNvSpPr/>
          <p:nvPr/>
        </p:nvSpPr>
        <p:spPr>
          <a:xfrm>
            <a:off x="6291143" y="5719167"/>
            <a:ext cx="2047994" cy="255984"/>
          </a:xfrm>
          <a:prstGeom prst="rect">
            <a:avLst/>
          </a:prstGeom>
          <a:noFill/>
          <a:ln/>
        </p:spPr>
        <p:txBody>
          <a:bodyPr wrap="none" lIns="0" tIns="0" rIns="0" bIns="0" rtlCol="0" anchor="t"/>
          <a:lstStyle/>
          <a:p>
            <a:pPr algn="ctr" indent="0" marL="0">
              <a:lnSpc>
                <a:spcPts val="2000"/>
              </a:lnSpc>
              <a:buNone/>
            </a:pPr>
            <a:r>
              <a:rPr lang="en-US" sz="1600" b="1" dirty="0">
                <a:solidFill>
                  <a:srgbClr val="39393C"/>
                </a:solidFill>
                <a:latin typeface="Playfair Display Bold" pitchFamily="34" charset="0"/>
                <a:ea typeface="Playfair Display Bold" pitchFamily="34" charset="-122"/>
                <a:cs typeface="Playfair Display Bold" pitchFamily="34" charset="-120"/>
              </a:rPr>
              <a:t>Silhouette Score</a:t>
            </a:r>
            <a:endParaRPr lang="en-US" sz="1600" dirty="0"/>
          </a:p>
        </p:txBody>
      </p:sp>
      <p:sp>
        <p:nvSpPr>
          <p:cNvPr id="14" name="Text 12"/>
          <p:cNvSpPr/>
          <p:nvPr/>
        </p:nvSpPr>
        <p:spPr>
          <a:xfrm>
            <a:off x="5202079" y="6073378"/>
            <a:ext cx="4226243" cy="262057"/>
          </a:xfrm>
          <a:prstGeom prst="rect">
            <a:avLst/>
          </a:prstGeom>
          <a:noFill/>
          <a:ln/>
        </p:spPr>
        <p:txBody>
          <a:bodyPr wrap="none" lIns="0" tIns="0" rIns="0" bIns="0" rtlCol="0" anchor="t"/>
          <a:lstStyle/>
          <a:p>
            <a:pPr algn="ctr" indent="0" marL="0">
              <a:lnSpc>
                <a:spcPts val="2050"/>
              </a:lnSpc>
              <a:buNone/>
            </a:pPr>
            <a:r>
              <a:rPr lang="en-US" sz="1250" dirty="0">
                <a:solidFill>
                  <a:srgbClr val="39393C"/>
                </a:solidFill>
                <a:latin typeface="Open Sans" pitchFamily="34" charset="0"/>
                <a:ea typeface="Open Sans" pitchFamily="34" charset="-122"/>
                <a:cs typeface="Open Sans" pitchFamily="34" charset="-120"/>
              </a:rPr>
              <a:t>Measure of cluster quality and separation (scale -1 to 1)</a:t>
            </a:r>
            <a:endParaRPr lang="en-US" sz="1250" dirty="0"/>
          </a:p>
        </p:txBody>
      </p:sp>
      <p:sp>
        <p:nvSpPr>
          <p:cNvPr id="15" name="Text 13"/>
          <p:cNvSpPr/>
          <p:nvPr/>
        </p:nvSpPr>
        <p:spPr>
          <a:xfrm>
            <a:off x="9633109" y="4973717"/>
            <a:ext cx="4226243" cy="540663"/>
          </a:xfrm>
          <a:prstGeom prst="rect">
            <a:avLst/>
          </a:prstGeom>
          <a:noFill/>
          <a:ln/>
        </p:spPr>
        <p:txBody>
          <a:bodyPr wrap="none" lIns="0" tIns="0" rIns="0" bIns="0" rtlCol="0" anchor="t"/>
          <a:lstStyle/>
          <a:p>
            <a:pPr algn="ctr" indent="0" marL="0">
              <a:lnSpc>
                <a:spcPts val="4250"/>
              </a:lnSpc>
              <a:buNone/>
            </a:pPr>
            <a:r>
              <a:rPr lang="en-US" sz="4250" b="1" dirty="0">
                <a:solidFill>
                  <a:srgbClr val="39393C"/>
                </a:solidFill>
                <a:latin typeface="Playfair Display Bold" pitchFamily="34" charset="0"/>
                <a:ea typeface="Playfair Display Bold" pitchFamily="34" charset="-122"/>
                <a:cs typeface="Playfair Display Bold" pitchFamily="34" charset="-120"/>
              </a:rPr>
              <a:t>85%</a:t>
            </a:r>
            <a:endParaRPr lang="en-US" sz="4250" dirty="0"/>
          </a:p>
        </p:txBody>
      </p:sp>
      <p:sp>
        <p:nvSpPr>
          <p:cNvPr id="16" name="Text 14"/>
          <p:cNvSpPr/>
          <p:nvPr/>
        </p:nvSpPr>
        <p:spPr>
          <a:xfrm>
            <a:off x="10722173" y="5719167"/>
            <a:ext cx="2047994" cy="255984"/>
          </a:xfrm>
          <a:prstGeom prst="rect">
            <a:avLst/>
          </a:prstGeom>
          <a:noFill/>
          <a:ln/>
        </p:spPr>
        <p:txBody>
          <a:bodyPr wrap="none" lIns="0" tIns="0" rIns="0" bIns="0" rtlCol="0" anchor="t"/>
          <a:lstStyle/>
          <a:p>
            <a:pPr algn="ctr" indent="0" marL="0">
              <a:lnSpc>
                <a:spcPts val="2000"/>
              </a:lnSpc>
              <a:buNone/>
            </a:pPr>
            <a:r>
              <a:rPr lang="en-US" sz="1600" b="1" dirty="0">
                <a:solidFill>
                  <a:srgbClr val="39393C"/>
                </a:solidFill>
                <a:latin typeface="Playfair Display Bold" pitchFamily="34" charset="0"/>
                <a:ea typeface="Playfair Display Bold" pitchFamily="34" charset="-122"/>
                <a:cs typeface="Playfair Display Bold" pitchFamily="34" charset="-120"/>
              </a:rPr>
              <a:t>Variance Explained</a:t>
            </a:r>
            <a:endParaRPr lang="en-US" sz="1600" dirty="0"/>
          </a:p>
        </p:txBody>
      </p:sp>
      <p:sp>
        <p:nvSpPr>
          <p:cNvPr id="17" name="Text 15"/>
          <p:cNvSpPr/>
          <p:nvPr/>
        </p:nvSpPr>
        <p:spPr>
          <a:xfrm>
            <a:off x="9633109" y="6073378"/>
            <a:ext cx="4226243" cy="524113"/>
          </a:xfrm>
          <a:prstGeom prst="rect">
            <a:avLst/>
          </a:prstGeom>
          <a:noFill/>
          <a:ln/>
        </p:spPr>
        <p:txBody>
          <a:bodyPr wrap="square" lIns="0" tIns="0" rIns="0" bIns="0" rtlCol="0" anchor="t"/>
          <a:lstStyle/>
          <a:p>
            <a:pPr algn="ctr" indent="0" marL="0">
              <a:lnSpc>
                <a:spcPts val="2050"/>
              </a:lnSpc>
              <a:buNone/>
            </a:pPr>
            <a:r>
              <a:rPr lang="en-US" sz="1250" dirty="0">
                <a:solidFill>
                  <a:srgbClr val="39393C"/>
                </a:solidFill>
                <a:latin typeface="Open Sans" pitchFamily="34" charset="0"/>
                <a:ea typeface="Open Sans" pitchFamily="34" charset="-122"/>
                <a:cs typeface="Open Sans" pitchFamily="34" charset="-120"/>
              </a:rPr>
              <a:t>Proportion of data variance captured by cluster assignments</a:t>
            </a:r>
            <a:endParaRPr lang="en-US" sz="1250" dirty="0"/>
          </a:p>
        </p:txBody>
      </p:sp>
      <p:sp>
        <p:nvSpPr>
          <p:cNvPr id="18" name="Text 16"/>
          <p:cNvSpPr/>
          <p:nvPr/>
        </p:nvSpPr>
        <p:spPr>
          <a:xfrm>
            <a:off x="771049" y="6781800"/>
            <a:ext cx="13088303" cy="786170"/>
          </a:xfrm>
          <a:prstGeom prst="rect">
            <a:avLst/>
          </a:prstGeom>
          <a:noFill/>
          <a:ln/>
        </p:spPr>
        <p:txBody>
          <a:bodyPr wrap="square" lIns="0" tIns="0" rIns="0" bIns="0" rtlCol="0" anchor="t"/>
          <a:lstStyle/>
          <a:p>
            <a:pPr algn="l" indent="0" marL="0">
              <a:lnSpc>
                <a:spcPts val="2050"/>
              </a:lnSpc>
              <a:buNone/>
            </a:pPr>
            <a:r>
              <a:rPr lang="en-US" sz="1250" dirty="0">
                <a:solidFill>
                  <a:srgbClr val="39393C"/>
                </a:solidFill>
                <a:latin typeface="Open Sans" pitchFamily="34" charset="0"/>
                <a:ea typeface="Open Sans" pitchFamily="34" charset="-122"/>
                <a:cs typeface="Open Sans" pitchFamily="34" charset="-120"/>
              </a:rPr>
              <a:t>The clustering results provide actionable insights into market segmentation. Each cluster can be profiled based on its centroid characteristics, revealing the typical property attributes and price ranges for that segment. These profiles enable targeted marketing strategies, pricing benchmarks, and investment opportunities aligned with specific market segments.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67859"/>
            <a:ext cx="3721298" cy="465177"/>
          </a:xfrm>
          <a:prstGeom prst="rect">
            <a:avLst/>
          </a:prstGeom>
          <a:noFill/>
          <a:ln/>
        </p:spPr>
        <p:txBody>
          <a:bodyPr wrap="none" lIns="0" tIns="0" rIns="0" bIns="0" rtlCol="0" anchor="t"/>
          <a:lstStyle/>
          <a:p>
            <a:pPr algn="l" indent="0" marL="0">
              <a:lnSpc>
                <a:spcPts val="3650"/>
              </a:lnSpc>
              <a:buNone/>
            </a:pPr>
            <a:r>
              <a:rPr lang="en-US" sz="2900" b="1" dirty="0">
                <a:solidFill>
                  <a:srgbClr val="101014"/>
                </a:solidFill>
                <a:latin typeface="Playfair Display Bold" pitchFamily="34" charset="0"/>
                <a:ea typeface="Playfair Display Bold" pitchFamily="34" charset="-122"/>
                <a:cs typeface="Playfair Display Bold" pitchFamily="34" charset="-120"/>
              </a:rPr>
              <a:t>Conclusion</a:t>
            </a:r>
            <a:endParaRPr lang="en-US" sz="2900" dirty="0"/>
          </a:p>
        </p:txBody>
      </p:sp>
      <p:sp>
        <p:nvSpPr>
          <p:cNvPr id="3" name="Shape 1"/>
          <p:cNvSpPr/>
          <p:nvPr/>
        </p:nvSpPr>
        <p:spPr>
          <a:xfrm>
            <a:off x="793790" y="1953935"/>
            <a:ext cx="4248388" cy="3239214"/>
          </a:xfrm>
          <a:prstGeom prst="roundRect">
            <a:avLst>
              <a:gd name="adj" fmla="val 2258"/>
            </a:avLst>
          </a:prstGeom>
          <a:solidFill>
            <a:srgbClr val="F3F3F7"/>
          </a:solidFill>
          <a:ln/>
        </p:spPr>
      </p:sp>
      <p:sp>
        <p:nvSpPr>
          <p:cNvPr id="4" name="Shape 2"/>
          <p:cNvSpPr/>
          <p:nvPr/>
        </p:nvSpPr>
        <p:spPr>
          <a:xfrm>
            <a:off x="793790" y="1938695"/>
            <a:ext cx="4248388" cy="60960"/>
          </a:xfrm>
          <a:prstGeom prst="roundRect">
            <a:avLst>
              <a:gd name="adj" fmla="val 36628"/>
            </a:avLst>
          </a:prstGeom>
          <a:solidFill>
            <a:srgbClr val="101014"/>
          </a:solidFill>
          <a:ln/>
        </p:spPr>
      </p:sp>
      <p:sp>
        <p:nvSpPr>
          <p:cNvPr id="5" name="Shape 3"/>
          <p:cNvSpPr/>
          <p:nvPr/>
        </p:nvSpPr>
        <p:spPr>
          <a:xfrm>
            <a:off x="2694742" y="1730693"/>
            <a:ext cx="446484" cy="446484"/>
          </a:xfrm>
          <a:prstGeom prst="roundRect">
            <a:avLst>
              <a:gd name="adj" fmla="val 204800"/>
            </a:avLst>
          </a:prstGeom>
          <a:solidFill>
            <a:srgbClr val="10101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28687" y="1864519"/>
            <a:ext cx="178594" cy="178594"/>
          </a:xfrm>
          <a:prstGeom prst="rect">
            <a:avLst/>
          </a:prstGeom>
        </p:spPr>
      </p:pic>
      <p:sp>
        <p:nvSpPr>
          <p:cNvPr id="7" name="Text 4"/>
          <p:cNvSpPr/>
          <p:nvPr/>
        </p:nvSpPr>
        <p:spPr>
          <a:xfrm>
            <a:off x="957858" y="2326005"/>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39393C"/>
                </a:solidFill>
                <a:latin typeface="Playfair Display Bold" pitchFamily="34" charset="0"/>
                <a:ea typeface="Playfair Display Bold" pitchFamily="34" charset="-122"/>
                <a:cs typeface="Playfair Display Bold" pitchFamily="34" charset="-120"/>
              </a:rPr>
              <a:t>Key Findings</a:t>
            </a:r>
            <a:endParaRPr lang="en-US" sz="1450" dirty="0"/>
          </a:p>
        </p:txBody>
      </p:sp>
      <p:sp>
        <p:nvSpPr>
          <p:cNvPr id="8" name="Text 5"/>
          <p:cNvSpPr/>
          <p:nvPr/>
        </p:nvSpPr>
        <p:spPr>
          <a:xfrm>
            <a:off x="957858" y="2647831"/>
            <a:ext cx="3920252" cy="1666875"/>
          </a:xfrm>
          <a:prstGeom prst="rect">
            <a:avLst/>
          </a:prstGeom>
          <a:noFill/>
          <a:ln/>
        </p:spPr>
        <p:txBody>
          <a:bodyPr wrap="square" lIns="0" tIns="0" rIns="0" bIns="0" rtlCol="0" anchor="t"/>
          <a:lstStyle/>
          <a:p>
            <a:pPr algn="l" indent="0" marL="0">
              <a:lnSpc>
                <a:spcPts val="1850"/>
              </a:lnSpc>
              <a:buNone/>
            </a:pPr>
            <a:r>
              <a:rPr lang="en-US" sz="1150" dirty="0">
                <a:solidFill>
                  <a:srgbClr val="39393C"/>
                </a:solidFill>
                <a:latin typeface="Open Sans" pitchFamily="34" charset="0"/>
                <a:ea typeface="Open Sans" pitchFamily="34" charset="-122"/>
                <a:cs typeface="Open Sans" pitchFamily="34" charset="-120"/>
              </a:rPr>
              <a:t>K-Means clustering successfully revealed natural groupings within the housing market data, demonstrating that properties can be meaningfully categorized based on their feature profiles. The algorithm identified distinct market segments that align with intuitive real estate categories, validating the approach for housing market analysis.</a:t>
            </a:r>
            <a:endParaRPr lang="en-US" sz="1150" dirty="0"/>
          </a:p>
        </p:txBody>
      </p:sp>
      <p:sp>
        <p:nvSpPr>
          <p:cNvPr id="9" name="Shape 6"/>
          <p:cNvSpPr/>
          <p:nvPr/>
        </p:nvSpPr>
        <p:spPr>
          <a:xfrm>
            <a:off x="5191006" y="1953935"/>
            <a:ext cx="4248388" cy="3239214"/>
          </a:xfrm>
          <a:prstGeom prst="roundRect">
            <a:avLst>
              <a:gd name="adj" fmla="val 2258"/>
            </a:avLst>
          </a:prstGeom>
          <a:solidFill>
            <a:srgbClr val="F3F3F7"/>
          </a:solidFill>
          <a:ln/>
        </p:spPr>
      </p:sp>
      <p:sp>
        <p:nvSpPr>
          <p:cNvPr id="10" name="Shape 7"/>
          <p:cNvSpPr/>
          <p:nvPr/>
        </p:nvSpPr>
        <p:spPr>
          <a:xfrm>
            <a:off x="5191006" y="1938695"/>
            <a:ext cx="4248388" cy="60960"/>
          </a:xfrm>
          <a:prstGeom prst="roundRect">
            <a:avLst>
              <a:gd name="adj" fmla="val 36628"/>
            </a:avLst>
          </a:prstGeom>
          <a:solidFill>
            <a:srgbClr val="101014"/>
          </a:solidFill>
          <a:ln/>
        </p:spPr>
      </p:sp>
      <p:sp>
        <p:nvSpPr>
          <p:cNvPr id="11" name="Shape 8"/>
          <p:cNvSpPr/>
          <p:nvPr/>
        </p:nvSpPr>
        <p:spPr>
          <a:xfrm>
            <a:off x="7091958" y="1730693"/>
            <a:ext cx="446484" cy="446484"/>
          </a:xfrm>
          <a:prstGeom prst="roundRect">
            <a:avLst>
              <a:gd name="adj" fmla="val 204800"/>
            </a:avLst>
          </a:prstGeom>
          <a:solidFill>
            <a:srgbClr val="101014"/>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5903" y="1864519"/>
            <a:ext cx="178594" cy="178594"/>
          </a:xfrm>
          <a:prstGeom prst="rect">
            <a:avLst/>
          </a:prstGeom>
        </p:spPr>
      </p:pic>
      <p:sp>
        <p:nvSpPr>
          <p:cNvPr id="13" name="Text 9"/>
          <p:cNvSpPr/>
          <p:nvPr/>
        </p:nvSpPr>
        <p:spPr>
          <a:xfrm>
            <a:off x="5355074" y="2326005"/>
            <a:ext cx="1882735" cy="232529"/>
          </a:xfrm>
          <a:prstGeom prst="rect">
            <a:avLst/>
          </a:prstGeom>
          <a:noFill/>
          <a:ln/>
        </p:spPr>
        <p:txBody>
          <a:bodyPr wrap="none" lIns="0" tIns="0" rIns="0" bIns="0" rtlCol="0" anchor="t"/>
          <a:lstStyle/>
          <a:p>
            <a:pPr algn="l" indent="0" marL="0">
              <a:lnSpc>
                <a:spcPts val="1800"/>
              </a:lnSpc>
              <a:buNone/>
            </a:pPr>
            <a:r>
              <a:rPr lang="en-US" sz="1450" b="1" dirty="0">
                <a:solidFill>
                  <a:srgbClr val="39393C"/>
                </a:solidFill>
                <a:latin typeface="Playfair Display Bold" pitchFamily="34" charset="0"/>
                <a:ea typeface="Playfair Display Bold" pitchFamily="34" charset="-122"/>
                <a:cs typeface="Playfair Display Bold" pitchFamily="34" charset="-120"/>
              </a:rPr>
              <a:t>Practical Applications</a:t>
            </a:r>
            <a:endParaRPr lang="en-US" sz="1450" dirty="0"/>
          </a:p>
        </p:txBody>
      </p:sp>
      <p:sp>
        <p:nvSpPr>
          <p:cNvPr id="14" name="Text 10"/>
          <p:cNvSpPr/>
          <p:nvPr/>
        </p:nvSpPr>
        <p:spPr>
          <a:xfrm>
            <a:off x="5355074" y="2647831"/>
            <a:ext cx="3920252" cy="1666875"/>
          </a:xfrm>
          <a:prstGeom prst="rect">
            <a:avLst/>
          </a:prstGeom>
          <a:noFill/>
          <a:ln/>
        </p:spPr>
        <p:txBody>
          <a:bodyPr wrap="square" lIns="0" tIns="0" rIns="0" bIns="0" rtlCol="0" anchor="t"/>
          <a:lstStyle/>
          <a:p>
            <a:pPr algn="l" indent="0" marL="0">
              <a:lnSpc>
                <a:spcPts val="1850"/>
              </a:lnSpc>
              <a:buNone/>
            </a:pPr>
            <a:r>
              <a:rPr lang="en-US" sz="1150" dirty="0">
                <a:solidFill>
                  <a:srgbClr val="39393C"/>
                </a:solidFill>
                <a:latin typeface="Open Sans" pitchFamily="34" charset="0"/>
                <a:ea typeface="Open Sans" pitchFamily="34" charset="-122"/>
                <a:cs typeface="Open Sans" pitchFamily="34" charset="-120"/>
              </a:rPr>
              <a:t>This clustering model provides valuable tools for real estate professionals, including market segmentation for targeted marketing campaigns, pricing strategy development based on cluster characteristics, competitive analysis within specific market segments, and portfolio diversification for real estate investors seeking exposure across different property categories.</a:t>
            </a:r>
            <a:endParaRPr lang="en-US" sz="1150" dirty="0"/>
          </a:p>
        </p:txBody>
      </p:sp>
      <p:sp>
        <p:nvSpPr>
          <p:cNvPr id="15" name="Shape 11"/>
          <p:cNvSpPr/>
          <p:nvPr/>
        </p:nvSpPr>
        <p:spPr>
          <a:xfrm>
            <a:off x="9588222" y="1953935"/>
            <a:ext cx="4248388" cy="3239214"/>
          </a:xfrm>
          <a:prstGeom prst="roundRect">
            <a:avLst>
              <a:gd name="adj" fmla="val 2258"/>
            </a:avLst>
          </a:prstGeom>
          <a:solidFill>
            <a:srgbClr val="F3F3F7"/>
          </a:solidFill>
          <a:ln/>
        </p:spPr>
      </p:sp>
      <p:sp>
        <p:nvSpPr>
          <p:cNvPr id="16" name="Shape 12"/>
          <p:cNvSpPr/>
          <p:nvPr/>
        </p:nvSpPr>
        <p:spPr>
          <a:xfrm>
            <a:off x="9588222" y="1938695"/>
            <a:ext cx="4248388" cy="60960"/>
          </a:xfrm>
          <a:prstGeom prst="roundRect">
            <a:avLst>
              <a:gd name="adj" fmla="val 36628"/>
            </a:avLst>
          </a:prstGeom>
          <a:solidFill>
            <a:srgbClr val="101014"/>
          </a:solidFill>
          <a:ln/>
        </p:spPr>
      </p:sp>
      <p:sp>
        <p:nvSpPr>
          <p:cNvPr id="17" name="Shape 13"/>
          <p:cNvSpPr/>
          <p:nvPr/>
        </p:nvSpPr>
        <p:spPr>
          <a:xfrm>
            <a:off x="11489174" y="1730693"/>
            <a:ext cx="446484" cy="446484"/>
          </a:xfrm>
          <a:prstGeom prst="roundRect">
            <a:avLst>
              <a:gd name="adj" fmla="val 204800"/>
            </a:avLst>
          </a:prstGeom>
          <a:solidFill>
            <a:srgbClr val="101014"/>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23119" y="1864519"/>
            <a:ext cx="178594" cy="178594"/>
          </a:xfrm>
          <a:prstGeom prst="rect">
            <a:avLst/>
          </a:prstGeom>
        </p:spPr>
      </p:pic>
      <p:sp>
        <p:nvSpPr>
          <p:cNvPr id="19" name="Text 14"/>
          <p:cNvSpPr/>
          <p:nvPr/>
        </p:nvSpPr>
        <p:spPr>
          <a:xfrm>
            <a:off x="9752290" y="2326005"/>
            <a:ext cx="1889403" cy="232529"/>
          </a:xfrm>
          <a:prstGeom prst="rect">
            <a:avLst/>
          </a:prstGeom>
          <a:noFill/>
          <a:ln/>
        </p:spPr>
        <p:txBody>
          <a:bodyPr wrap="none" lIns="0" tIns="0" rIns="0" bIns="0" rtlCol="0" anchor="t"/>
          <a:lstStyle/>
          <a:p>
            <a:pPr algn="l" indent="0" marL="0">
              <a:lnSpc>
                <a:spcPts val="1800"/>
              </a:lnSpc>
              <a:buNone/>
            </a:pPr>
            <a:r>
              <a:rPr lang="en-US" sz="1450" b="1" dirty="0">
                <a:solidFill>
                  <a:srgbClr val="39393C"/>
                </a:solidFill>
                <a:latin typeface="Playfair Display Bold" pitchFamily="34" charset="0"/>
                <a:ea typeface="Playfair Display Bold" pitchFamily="34" charset="-122"/>
                <a:cs typeface="Playfair Display Bold" pitchFamily="34" charset="-120"/>
              </a:rPr>
              <a:t>Future Enhancements</a:t>
            </a:r>
            <a:endParaRPr lang="en-US" sz="1450" dirty="0"/>
          </a:p>
        </p:txBody>
      </p:sp>
      <p:sp>
        <p:nvSpPr>
          <p:cNvPr id="20" name="Text 15"/>
          <p:cNvSpPr/>
          <p:nvPr/>
        </p:nvSpPr>
        <p:spPr>
          <a:xfrm>
            <a:off x="9752290" y="2647831"/>
            <a:ext cx="3920252" cy="2381250"/>
          </a:xfrm>
          <a:prstGeom prst="rect">
            <a:avLst/>
          </a:prstGeom>
          <a:noFill/>
          <a:ln/>
        </p:spPr>
        <p:txBody>
          <a:bodyPr wrap="square" lIns="0" tIns="0" rIns="0" bIns="0" rtlCol="0" anchor="t"/>
          <a:lstStyle/>
          <a:p>
            <a:pPr algn="l" indent="0" marL="0">
              <a:lnSpc>
                <a:spcPts val="1850"/>
              </a:lnSpc>
              <a:buNone/>
            </a:pPr>
            <a:r>
              <a:rPr lang="en-US" sz="1150" dirty="0">
                <a:solidFill>
                  <a:srgbClr val="39393C"/>
                </a:solidFill>
                <a:latin typeface="Open Sans" pitchFamily="34" charset="0"/>
                <a:ea typeface="Open Sans" pitchFamily="34" charset="-122"/>
                <a:cs typeface="Open Sans" pitchFamily="34" charset="-120"/>
              </a:rPr>
              <a:t>The current model establishes a strong foundation that can be extended in multiple directions: incorporating additional features such as neighborhood characteristics, school district ratings, and proximity to amenities; exploring alternative clustering algorithms like DBSCAN or hierarchical clustering for comparison; implementing ensemble approaches that combine multiple clustering methods; and developing predictive models that use cluster membership as a feature for price estimation.</a:t>
            </a:r>
            <a:endParaRPr lang="en-US" sz="1150" dirty="0"/>
          </a:p>
        </p:txBody>
      </p:sp>
      <p:sp>
        <p:nvSpPr>
          <p:cNvPr id="21" name="Text 16"/>
          <p:cNvSpPr/>
          <p:nvPr/>
        </p:nvSpPr>
        <p:spPr>
          <a:xfrm>
            <a:off x="793790" y="5509379"/>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101014"/>
                </a:solidFill>
                <a:latin typeface="Playfair Display Bold" pitchFamily="34" charset="0"/>
                <a:ea typeface="Playfair Display Bold" pitchFamily="34" charset="-122"/>
                <a:cs typeface="Playfair Display Bold" pitchFamily="34" charset="-120"/>
              </a:rPr>
              <a:t>Learning Outcomes</a:t>
            </a:r>
            <a:endParaRPr lang="en-US" sz="1750" dirty="0"/>
          </a:p>
        </p:txBody>
      </p:sp>
      <p:sp>
        <p:nvSpPr>
          <p:cNvPr id="22" name="Text 17"/>
          <p:cNvSpPr/>
          <p:nvPr/>
        </p:nvSpPr>
        <p:spPr>
          <a:xfrm>
            <a:off x="793790" y="5937171"/>
            <a:ext cx="6339840" cy="1190625"/>
          </a:xfrm>
          <a:prstGeom prst="rect">
            <a:avLst/>
          </a:prstGeom>
          <a:noFill/>
          <a:ln/>
        </p:spPr>
        <p:txBody>
          <a:bodyPr wrap="square" lIns="0" tIns="0" rIns="0" bIns="0" rtlCol="0" anchor="t"/>
          <a:lstStyle/>
          <a:p>
            <a:pPr algn="l" indent="0" marL="0">
              <a:lnSpc>
                <a:spcPts val="1850"/>
              </a:lnSpc>
              <a:buNone/>
            </a:pPr>
            <a:r>
              <a:rPr lang="en-US" sz="1150" dirty="0">
                <a:solidFill>
                  <a:srgbClr val="39393C"/>
                </a:solidFill>
                <a:latin typeface="Open Sans" pitchFamily="34" charset="0"/>
                <a:ea typeface="Open Sans" pitchFamily="34" charset="-122"/>
                <a:cs typeface="Open Sans" pitchFamily="34" charset="-120"/>
              </a:rPr>
              <a:t>This project demonstrated the power of unsupervised learning for exploratory data analysis in real-world domains. We gained practical experience with data preprocessing, feature engineering, hyperparameter optimization using the Elbow Method, and result interpretation through visualization. The insights generated validate K-Means as an effective tool for market segmentation in the real estate industry.</a:t>
            </a:r>
            <a:endParaRPr lang="en-US" sz="1150" dirty="0"/>
          </a:p>
        </p:txBody>
      </p:sp>
      <p:sp>
        <p:nvSpPr>
          <p:cNvPr id="23" name="Text 18"/>
          <p:cNvSpPr/>
          <p:nvPr/>
        </p:nvSpPr>
        <p:spPr>
          <a:xfrm>
            <a:off x="7504390" y="5509379"/>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101014"/>
                </a:solidFill>
                <a:latin typeface="Playfair Display Bold" pitchFamily="34" charset="0"/>
                <a:ea typeface="Playfair Display Bold" pitchFamily="34" charset="-122"/>
                <a:cs typeface="Playfair Display Bold" pitchFamily="34" charset="-120"/>
              </a:rPr>
              <a:t>Impact &amp; Value</a:t>
            </a:r>
            <a:endParaRPr lang="en-US" sz="1750" dirty="0"/>
          </a:p>
        </p:txBody>
      </p:sp>
      <p:sp>
        <p:nvSpPr>
          <p:cNvPr id="24" name="Text 19"/>
          <p:cNvSpPr/>
          <p:nvPr/>
        </p:nvSpPr>
        <p:spPr>
          <a:xfrm>
            <a:off x="7504390" y="5937171"/>
            <a:ext cx="6339840" cy="1190625"/>
          </a:xfrm>
          <a:prstGeom prst="rect">
            <a:avLst/>
          </a:prstGeom>
          <a:noFill/>
          <a:ln/>
        </p:spPr>
        <p:txBody>
          <a:bodyPr wrap="square" lIns="0" tIns="0" rIns="0" bIns="0" rtlCol="0" anchor="t"/>
          <a:lstStyle/>
          <a:p>
            <a:pPr algn="l" indent="0" marL="0">
              <a:lnSpc>
                <a:spcPts val="1850"/>
              </a:lnSpc>
              <a:buNone/>
            </a:pPr>
            <a:r>
              <a:rPr lang="en-US" sz="1150" dirty="0">
                <a:solidFill>
                  <a:srgbClr val="39393C"/>
                </a:solidFill>
                <a:latin typeface="Open Sans" pitchFamily="34" charset="0"/>
                <a:ea typeface="Open Sans" pitchFamily="34" charset="-122"/>
                <a:cs typeface="Open Sans" pitchFamily="34" charset="-120"/>
              </a:rPr>
              <a:t>The clustering analysis transforms raw housing data into actionable market intelligence. Real estate agents can use these insights to position properties effectively, buyers can identify comparable homes within their target segment, and investors can make data-driven decisions about portfolio composition. This project showcases how machine learning bridges the gap between data and strategic decision-making.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2025-12-10T16:20:03Z</dcterms:created>
  <dcterms:modified xsi:type="dcterms:W3CDTF">2025-12-10T16:20:03Z</dcterms:modified>
</cp:coreProperties>
</file>